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365607-aa50-30ea-229d-942024e1305e}">
          <p14:sldIdLst>
            <p14:sldId id="256"/>
            <p14:sldId id="257"/>
          </p14:sldIdLst>
        </p14:section>
        <p14:section name="Foundations" id="{45b1d2b5-f10a-4aa6-6992-77a716cfe78d}">
          <p14:sldIdLst>
            <p14:sldId id="258"/>
            <p14:sldId id="259"/>
          </p14:sldIdLst>
        </p14:section>
        <p14:section name="Strategy" id="{09a96bd4-f208-fd79-65e6-6aa6da6afd6a}">
          <p14:sldIdLst>
            <p14:sldId id="260"/>
            <p14:sldId id="261"/>
          </p14:sldIdLst>
        </p14:section>
        <p14:section name="Worked example" id="{2afb5889-2290-7fc6-b1d3-8fac7467d0ca}">
          <p14:sldIdLst>
            <p14:sldId id="262"/>
            <p14:sldId id="263"/>
            <p14:sldId id="264"/>
            <p14:sldId id="265"/>
            <p14:sldId id="266"/>
            <p14:sldId id="267"/>
            <p14:sldId id="268"/>
            <p14:sldId id="269"/>
          </p14:sldIdLst>
        </p14:section>
        <p14:section name="Making it fast" id="{cb96bf1c-8660-7597-54ed-cbb05590a3a2}">
          <p14:sldIdLst>
            <p14:sldId id="270"/>
          </p14:sldIdLst>
        </p14:section>
        <p14:section name="Beyond" id="{6459c8a9-2037-30ed-50f1-a3ecb230aff2}">
          <p14:sldIdLst>
            <p14:sldId id="271"/>
          </p14:sldIdLst>
        </p14:section>
        <p14:section name="Wrap-up" id="{d4c25461-7d5c-6424-c840-8df9770024c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Job Sequencing with Deadlines — a classic greedy algorithm. The goal is to pick and order jobs so total profit is as large as possible, with no job missing its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dilemma: many jobs, each with a profit and a deadline, but only one machine and limited time. Which jobs do we take, and in what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the dilemma, the greedy strategy, building a schedule step by step, making it fast, and what lies beyond this special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n jobs, each with a deadline and a profit that we only earn if the job finishes by its deadline. One machine, and every job takes one unit of time. Output: a subset of jobs, all finished on time, with maximum total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greedy strategy has three steps: sort jobs by profit, find the maximum deadline to know how many slots exist, then place each job in the latest free slot on or before its deadline. The key insight: nothing is gained by scheduling a job earlier, and doing so could block another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feasibility: a set of jobs is feasible if and only if the same jobs sorted by deadline are feasible. If two jobs are out of order we can swap them, and both still meet their deadlines, because the later-deadline job moves to a later slot and the earlier-deadline job moves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example has five jobs A to E with profits and deadlines. The maximum deadline is 3, so the schedule has three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sort jobs in descending order of profit. Watch the tokens reorder.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deadline 2, so it goes in the latest free slot on or before 2, which is slot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deadline 2, but slot 2 is taken. Move one slot earlier to slot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deadline 1, but slot 1 is already used and nothing earlier exists. D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deadline 1 as well. Slot 1 is taken, so B is rejected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deadline 3, and slot 3 is free. E takes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schedule runs job C in slot 1, A in slot 2, and E in slot 3, for a total profit of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 version scans for a free slot for each job, which costs O(n squared). A disjoint-set (union-find) structure lets us jump straight to the latest free slot, so sorting dominates and the whole algorithm runs in roughly O(n log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thinking appears in many places: capital planning and bids, spanning trees, shortest paths, other scheduling problems, and heuristics for graph colouring and the travelling salesperson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sort by profit and place each job as late as possible. A disjoint-set makes it fast. Greedy algorithms are fast and simple, so use them as parts of bigger solutions or as approximations. Next question: what if jobs take different amounts of time? That is where dynamic programming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736"/>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solidFill>
          <a:srgbClr val="0E173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orb1"/>
          <p:cNvSpPr/>
          <p:nvPr/>
        </p:nvSpPr>
        <p:spPr>
          <a:xfrm>
            <a:off x="5394960" y="868680"/>
            <a:ext cx="3383280" cy="3383280"/>
          </a:xfrm>
          <a:prstGeom prst="ellipse">
            <a:avLst/>
          </a:prstGeom>
          <a:solidFill>
            <a:srgbClr val="1B2A5C"/>
          </a:solidFill>
          <a:ln w="50800">
            <a:solidFill>
              <a:srgbClr val="F28C28"/>
            </a:solidFill>
            <a:prstDash val="solid"/>
          </a:ln>
        </p:spPr>
      </p:sp>
      <p:sp>
        <p:nvSpPr>
          <p:cNvPr id="4" name="!!orb2"/>
          <p:cNvSpPr/>
          <p:nvPr/>
        </p:nvSpPr>
        <p:spPr>
          <a:xfrm>
            <a:off x="274320" y="4114800"/>
            <a:ext cx="822960" cy="822960"/>
          </a:xfrm>
          <a:prstGeom prst="ellipse">
            <a:avLst/>
          </a:prstGeom>
          <a:solidFill>
            <a:srgbClr val="F28C28"/>
          </a:solidFill>
          <a:ln w="3175">
            <a:solidFill>
              <a:srgbClr val="F28C28"/>
            </a:solidFill>
            <a:prstDash val="solid"/>
          </a:ln>
        </p:spPr>
      </p:sp>
      <p:sp>
        <p:nvSpPr>
          <p:cNvPr id="5" name="!!orb3"/>
          <p:cNvSpPr/>
          <p:nvPr/>
        </p:nvSpPr>
        <p:spPr>
          <a:xfrm>
            <a:off x="8229600" y="365760"/>
            <a:ext cx="457200" cy="457200"/>
          </a:xfrm>
          <a:prstGeom prst="ellipse">
            <a:avLst/>
          </a:prstGeom>
          <a:solidFill>
            <a:srgbClr val="FFD966"/>
          </a:solidFill>
          <a:ln w="3175">
            <a:solidFill>
              <a:srgbClr val="FFD966"/>
            </a:solidFill>
            <a:prstDash val="solid"/>
          </a:ln>
        </p:spPr>
      </p:sp>
      <p:sp>
        <p:nvSpPr>
          <p:cNvPr id="6" name="!!hourHand"/>
          <p:cNvSpPr/>
          <p:nvPr/>
        </p:nvSpPr>
        <p:spPr>
          <a:xfrm rot="18000000">
            <a:off x="6655587" y="1908810"/>
            <a:ext cx="109728" cy="868680"/>
          </a:xfrm>
          <a:prstGeom prst="roundRect">
            <a:avLst>
              <a:gd name="adj" fmla="val 50000"/>
            </a:avLst>
          </a:prstGeom>
          <a:solidFill>
            <a:srgbClr val="FFFFFF"/>
          </a:solidFill>
          <a:ln w="3175">
            <a:solidFill>
              <a:srgbClr val="FFFFFF"/>
            </a:solidFill>
            <a:prstDash val="solid"/>
          </a:ln>
        </p:spPr>
      </p:sp>
      <p:sp>
        <p:nvSpPr>
          <p:cNvPr id="7" name="!!minHand"/>
          <p:cNvSpPr/>
          <p:nvPr/>
        </p:nvSpPr>
        <p:spPr>
          <a:xfrm rot="3600000">
            <a:off x="7584552" y="1634490"/>
            <a:ext cx="73152" cy="1234440"/>
          </a:xfrm>
          <a:prstGeom prst="roundRect">
            <a:avLst>
              <a:gd name="adj" fmla="val 50000"/>
            </a:avLst>
          </a:prstGeom>
          <a:solidFill>
            <a:srgbClr val="F28C28"/>
          </a:solidFill>
          <a:ln w="3175">
            <a:solidFill>
              <a:srgbClr val="F28C28"/>
            </a:solidFill>
            <a:prstDash val="solid"/>
          </a:ln>
        </p:spPr>
      </p:sp>
      <p:sp>
        <p:nvSpPr>
          <p:cNvPr id="8" name="!!hub"/>
          <p:cNvSpPr/>
          <p:nvPr/>
        </p:nvSpPr>
        <p:spPr>
          <a:xfrm>
            <a:off x="6976872" y="2450592"/>
            <a:ext cx="219456" cy="219456"/>
          </a:xfrm>
          <a:prstGeom prst="ellipse">
            <a:avLst/>
          </a:prstGeom>
          <a:solidFill>
            <a:srgbClr val="FFD966"/>
          </a:solidFill>
          <a:ln w="3175">
            <a:solidFill>
              <a:srgbClr val="FFD966"/>
            </a:solidFill>
            <a:prstDash val="solid"/>
          </a:ln>
        </p:spPr>
      </p:sp>
      <p:sp>
        <p:nvSpPr>
          <p:cNvPr id="9" name="!!title"/>
          <p:cNvSpPr txBox="1"/>
          <p:nvPr/>
        </p:nvSpPr>
        <p:spPr>
          <a:xfrm>
            <a:off x="548640" y="640080"/>
            <a:ext cx="4754880" cy="25603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Job Sequencing with Deadlines</a:t>
            </a:r>
            <a:endParaRPr lang="en-US" sz="4000" dirty="0"/>
          </a:p>
        </p:txBody>
      </p:sp>
      <p:sp>
        <p:nvSpPr>
          <p:cNvPr id="10" name="!!sub"/>
          <p:cNvSpPr txBox="1"/>
          <p:nvPr/>
        </p:nvSpPr>
        <p:spPr>
          <a:xfrm>
            <a:off x="548640" y="3429000"/>
            <a:ext cx="4572000" cy="731520"/>
          </a:xfrm>
          <a:prstGeom prst="rect">
            <a:avLst/>
          </a:prstGeom>
          <a:noFill/>
          <a:ln/>
        </p:spPr>
        <p:txBody>
          <a:bodyPr wrap="square" lIns="0" tIns="0" rIns="0" bIns="0" rtlCol="0" anchor="t"/>
          <a:lstStyle/>
          <a:p>
            <a:pPr indent="0" marL="0">
              <a:buNone/>
            </a:pPr>
            <a:r>
              <a:rPr lang="en-US" sz="1800" dirty="0">
                <a:solidFill>
                  <a:srgbClr val="CADCFC"/>
                </a:solidFill>
              </a:rPr>
              <a:t>A greedy way to earn the most profit before time runs out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orb1"/>
          <p:cNvSpPr/>
          <p:nvPr/>
        </p:nvSpPr>
        <p:spPr>
          <a:xfrm>
            <a:off x="5394960" y="868680"/>
            <a:ext cx="3383280" cy="3383280"/>
          </a:xfrm>
          <a:prstGeom prst="ellipse">
            <a:avLst/>
          </a:prstGeom>
          <a:solidFill>
            <a:srgbClr val="1B2A5C"/>
          </a:solidFill>
          <a:ln w="50800">
            <a:solidFill>
              <a:srgbClr val="F28C28"/>
            </a:solidFill>
            <a:prstDash val="solid"/>
          </a:ln>
        </p:spPr>
      </p:sp>
      <p:sp>
        <p:nvSpPr>
          <p:cNvPr id="4" name="!!orb2"/>
          <p:cNvSpPr/>
          <p:nvPr/>
        </p:nvSpPr>
        <p:spPr>
          <a:xfrm>
            <a:off x="4937760" y="3931920"/>
            <a:ext cx="548640" cy="548640"/>
          </a:xfrm>
          <a:prstGeom prst="ellipse">
            <a:avLst/>
          </a:prstGeom>
          <a:solidFill>
            <a:srgbClr val="F28C28"/>
          </a:solidFill>
          <a:ln w="3175">
            <a:solidFill>
              <a:srgbClr val="F28C28"/>
            </a:solidFill>
            <a:prstDash val="solid"/>
          </a:ln>
        </p:spPr>
      </p:sp>
      <p:sp>
        <p:nvSpPr>
          <p:cNvPr id="5" name="!!orb3"/>
          <p:cNvSpPr/>
          <p:nvPr/>
        </p:nvSpPr>
        <p:spPr>
          <a:xfrm>
            <a:off x="8412480" y="457200"/>
            <a:ext cx="365760" cy="365760"/>
          </a:xfrm>
          <a:prstGeom prst="ellipse">
            <a:avLst/>
          </a:prstGeom>
          <a:solidFill>
            <a:srgbClr val="FFD966"/>
          </a:solidFill>
          <a:ln w="3175">
            <a:solidFill>
              <a:srgbClr val="FFD966"/>
            </a:solidFill>
            <a:prstDash val="solid"/>
          </a:ln>
        </p:spPr>
      </p:sp>
      <p:sp>
        <p:nvSpPr>
          <p:cNvPr id="6" name="!!hourHand"/>
          <p:cNvSpPr/>
          <p:nvPr/>
        </p:nvSpPr>
        <p:spPr>
          <a:xfrm rot="21120000">
            <a:off x="6971288" y="1695867"/>
            <a:ext cx="109728" cy="868680"/>
          </a:xfrm>
          <a:prstGeom prst="roundRect">
            <a:avLst>
              <a:gd name="adj" fmla="val 50000"/>
            </a:avLst>
          </a:prstGeom>
          <a:solidFill>
            <a:srgbClr val="FFFFFF"/>
          </a:solidFill>
          <a:ln w="3175">
            <a:solidFill>
              <a:srgbClr val="FFFFFF"/>
            </a:solidFill>
            <a:prstDash val="solid"/>
          </a:ln>
        </p:spPr>
      </p:sp>
      <p:sp>
        <p:nvSpPr>
          <p:cNvPr id="7" name="!!minHand"/>
          <p:cNvSpPr/>
          <p:nvPr/>
        </p:nvSpPr>
        <p:spPr>
          <a:xfrm rot="20880000">
            <a:off x="6921697" y="1339368"/>
            <a:ext cx="73152" cy="1234440"/>
          </a:xfrm>
          <a:prstGeom prst="roundRect">
            <a:avLst>
              <a:gd name="adj" fmla="val 50000"/>
            </a:avLst>
          </a:prstGeom>
          <a:solidFill>
            <a:srgbClr val="F28C28"/>
          </a:solidFill>
          <a:ln w="3175">
            <a:solidFill>
              <a:srgbClr val="F28C28"/>
            </a:solidFill>
            <a:prstDash val="solid"/>
          </a:ln>
        </p:spPr>
      </p:sp>
      <p:sp>
        <p:nvSpPr>
          <p:cNvPr id="8" name="!!hub"/>
          <p:cNvSpPr/>
          <p:nvPr/>
        </p:nvSpPr>
        <p:spPr>
          <a:xfrm>
            <a:off x="6976872" y="2450592"/>
            <a:ext cx="219456" cy="219456"/>
          </a:xfrm>
          <a:prstGeom prst="ellipse">
            <a:avLst/>
          </a:prstGeom>
          <a:solidFill>
            <a:srgbClr val="FFD966"/>
          </a:solidFill>
          <a:ln w="3175">
            <a:solidFill>
              <a:srgbClr val="FFD966"/>
            </a:solidFill>
            <a:prstDash val="solid"/>
          </a:ln>
        </p:spPr>
      </p:sp>
      <p:sp>
        <p:nvSpPr>
          <p:cNvPr id="9" name="!!title"/>
          <p:cNvSpPr txBox="1"/>
          <p:nvPr/>
        </p:nvSpPr>
        <p:spPr>
          <a:xfrm>
            <a:off x="548640" y="640080"/>
            <a:ext cx="4754880" cy="25603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How to guarantee the highest profit before time runs out?</a:t>
            </a:r>
            <a:endParaRPr lang="en-US" sz="4000" dirty="0"/>
          </a:p>
        </p:txBody>
      </p:sp>
      <p:sp>
        <p:nvSpPr>
          <p:cNvPr id="10" name="!!sub"/>
          <p:cNvSpPr txBox="1"/>
          <p:nvPr/>
        </p:nvSpPr>
        <p:spPr>
          <a:xfrm>
            <a:off x="548640" y="3429000"/>
            <a:ext cx="4572000" cy="731520"/>
          </a:xfrm>
          <a:prstGeom prst="rect">
            <a:avLst/>
          </a:prstGeom>
          <a:noFill/>
          <a:ln/>
        </p:spPr>
        <p:txBody>
          <a:bodyPr wrap="square" lIns="0" tIns="0" rIns="0" bIns="0" rtlCol="0" anchor="t"/>
          <a:lstStyle/>
          <a:p>
            <a:pPr indent="0" marL="0">
              <a:buNone/>
            </a:pPr>
            <a:r>
              <a:rPr lang="en-US" sz="1800" dirty="0">
                <a:solidFill>
                  <a:srgbClr val="CADCFC"/>
                </a:solidFill>
              </a:rPr>
              <a:t>Many jobs, one machine, and a deadline on every job.</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orb1"/>
          <p:cNvSpPr/>
          <p:nvPr/>
        </p:nvSpPr>
        <p:spPr>
          <a:xfrm>
            <a:off x="6949440" y="-1463040"/>
            <a:ext cx="3291840" cy="3291840"/>
          </a:xfrm>
          <a:prstGeom prst="ellipse">
            <a:avLst/>
          </a:prstGeom>
          <a:solidFill>
            <a:srgbClr val="F6F8FC"/>
          </a:solidFill>
          <a:ln w="38100">
            <a:solidFill>
              <a:srgbClr val="D0D7E8"/>
            </a:solidFill>
            <a:prstDash val="solid"/>
          </a:ln>
        </p:spPr>
      </p:sp>
      <p:sp>
        <p:nvSpPr>
          <p:cNvPr id="4" name="!!orb2"/>
          <p:cNvSpPr/>
          <p:nvPr/>
        </p:nvSpPr>
        <p:spPr>
          <a:xfrm>
            <a:off x="-64008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50392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What we will cover</a:t>
            </a:r>
            <a:endParaRPr lang="en-US" sz="3400" dirty="0"/>
          </a:p>
        </p:txBody>
      </p:sp>
      <p:sp>
        <p:nvSpPr>
          <p:cNvPr id="7" name="!!card1"/>
          <p:cNvSpPr/>
          <p:nvPr/>
        </p:nvSpPr>
        <p:spPr>
          <a:xfrm>
            <a:off x="457200" y="1325880"/>
            <a:ext cx="256032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2800" b="1" dirty="0">
                <a:solidFill>
                  <a:srgbClr val="F28C28"/>
                </a:solidFill>
                <a:latin typeface="Calibri" pitchFamily="34" charset="0"/>
                <a:ea typeface="Calibri" pitchFamily="34" charset="-122"/>
                <a:cs typeface="Calibri" pitchFamily="34" charset="-120"/>
              </a:rPr>
              <a:t>1</a:t>
            </a:r>
            <a:endParaRPr lang="en-US" sz="1600" dirty="0"/>
          </a:p>
          <a:p>
            <a:pPr algn="l" indent="0" marL="0">
              <a:buNone/>
            </a:pPr>
            <a:r>
              <a:rPr lang="en-US" sz="1800" b="1" dirty="0">
                <a:solidFill>
                  <a:srgbClr val="0E1736"/>
                </a:solidFill>
                <a:latin typeface="Calibri" pitchFamily="34" charset="0"/>
                <a:ea typeface="Calibri" pitchFamily="34" charset="-122"/>
                <a:cs typeface="Calibri" pitchFamily="34" charset="-120"/>
              </a:rPr>
              <a:t>The Dilemma</a:t>
            </a:r>
            <a:endParaRPr lang="en-US" sz="1600" dirty="0"/>
          </a:p>
        </p:txBody>
      </p:sp>
      <p:sp>
        <p:nvSpPr>
          <p:cNvPr id="8" name="!!card2"/>
          <p:cNvSpPr/>
          <p:nvPr/>
        </p:nvSpPr>
        <p:spPr>
          <a:xfrm>
            <a:off x="3291840" y="1325880"/>
            <a:ext cx="256032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2800" b="1" dirty="0">
                <a:solidFill>
                  <a:srgbClr val="F28C28"/>
                </a:solidFill>
                <a:latin typeface="Calibri" pitchFamily="34" charset="0"/>
                <a:ea typeface="Calibri" pitchFamily="34" charset="-122"/>
                <a:cs typeface="Calibri" pitchFamily="34" charset="-120"/>
              </a:rPr>
              <a:t>2</a:t>
            </a:r>
            <a:endParaRPr lang="en-US" sz="1600" dirty="0"/>
          </a:p>
          <a:p>
            <a:pPr algn="l" indent="0" marL="0">
              <a:buNone/>
            </a:pPr>
            <a:r>
              <a:rPr lang="en-US" sz="1800" b="1" dirty="0">
                <a:solidFill>
                  <a:srgbClr val="0E1736"/>
                </a:solidFill>
                <a:latin typeface="Calibri" pitchFamily="34" charset="0"/>
                <a:ea typeface="Calibri" pitchFamily="34" charset="-122"/>
                <a:cs typeface="Calibri" pitchFamily="34" charset="-120"/>
              </a:rPr>
              <a:t>Greedy Strategy</a:t>
            </a:r>
            <a:endParaRPr lang="en-US" sz="1600" dirty="0"/>
          </a:p>
        </p:txBody>
      </p:sp>
      <p:sp>
        <p:nvSpPr>
          <p:cNvPr id="9" name="!!card3"/>
          <p:cNvSpPr/>
          <p:nvPr/>
        </p:nvSpPr>
        <p:spPr>
          <a:xfrm>
            <a:off x="6126480" y="1325880"/>
            <a:ext cx="256032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2800" b="1" dirty="0">
                <a:solidFill>
                  <a:srgbClr val="F28C28"/>
                </a:solidFill>
                <a:latin typeface="Calibri" pitchFamily="34" charset="0"/>
                <a:ea typeface="Calibri" pitchFamily="34" charset="-122"/>
                <a:cs typeface="Calibri" pitchFamily="34" charset="-120"/>
              </a:rPr>
              <a:t>3</a:t>
            </a:r>
            <a:endParaRPr lang="en-US" sz="1600" dirty="0"/>
          </a:p>
          <a:p>
            <a:pPr algn="l" indent="0" marL="0">
              <a:buNone/>
            </a:pPr>
            <a:r>
              <a:rPr lang="en-US" sz="1800" b="1" dirty="0">
                <a:solidFill>
                  <a:srgbClr val="0E1736"/>
                </a:solidFill>
                <a:latin typeface="Calibri" pitchFamily="34" charset="0"/>
                <a:ea typeface="Calibri" pitchFamily="34" charset="-122"/>
                <a:cs typeface="Calibri" pitchFamily="34" charset="-120"/>
              </a:rPr>
              <a:t>Building a Schedule</a:t>
            </a:r>
            <a:endParaRPr lang="en-US" sz="1600" dirty="0"/>
          </a:p>
        </p:txBody>
      </p:sp>
      <p:sp>
        <p:nvSpPr>
          <p:cNvPr id="10" name="!!card4"/>
          <p:cNvSpPr/>
          <p:nvPr/>
        </p:nvSpPr>
        <p:spPr>
          <a:xfrm>
            <a:off x="1874520" y="3017520"/>
            <a:ext cx="256032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2800" b="1" dirty="0">
                <a:solidFill>
                  <a:srgbClr val="F28C28"/>
                </a:solidFill>
                <a:latin typeface="Calibri" pitchFamily="34" charset="0"/>
                <a:ea typeface="Calibri" pitchFamily="34" charset="-122"/>
                <a:cs typeface="Calibri" pitchFamily="34" charset="-120"/>
              </a:rPr>
              <a:t>4</a:t>
            </a:r>
            <a:endParaRPr lang="en-US" sz="1600" dirty="0"/>
          </a:p>
          <a:p>
            <a:pPr algn="l" indent="0" marL="0">
              <a:buNone/>
            </a:pPr>
            <a:r>
              <a:rPr lang="en-US" sz="1800" b="1" dirty="0">
                <a:solidFill>
                  <a:srgbClr val="0E1736"/>
                </a:solidFill>
                <a:latin typeface="Calibri" pitchFamily="34" charset="0"/>
                <a:ea typeface="Calibri" pitchFamily="34" charset="-122"/>
                <a:cs typeface="Calibri" pitchFamily="34" charset="-120"/>
              </a:rPr>
              <a:t>Fast Scheduling</a:t>
            </a:r>
            <a:endParaRPr lang="en-US" sz="1600" dirty="0"/>
          </a:p>
        </p:txBody>
      </p:sp>
      <p:sp>
        <p:nvSpPr>
          <p:cNvPr id="11" name="!!card5"/>
          <p:cNvSpPr/>
          <p:nvPr/>
        </p:nvSpPr>
        <p:spPr>
          <a:xfrm>
            <a:off x="4709160" y="3017520"/>
            <a:ext cx="256032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2800" b="1" dirty="0">
                <a:solidFill>
                  <a:srgbClr val="F28C28"/>
                </a:solidFill>
                <a:latin typeface="Calibri" pitchFamily="34" charset="0"/>
                <a:ea typeface="Calibri" pitchFamily="34" charset="-122"/>
                <a:cs typeface="Calibri" pitchFamily="34" charset="-120"/>
              </a:rPr>
              <a:t>5</a:t>
            </a:r>
            <a:endParaRPr lang="en-US" sz="1600" dirty="0"/>
          </a:p>
          <a:p>
            <a:pPr algn="l" indent="0" marL="0">
              <a:buNone/>
            </a:pPr>
            <a:r>
              <a:rPr lang="en-US" sz="1800" b="1" dirty="0">
                <a:solidFill>
                  <a:srgbClr val="0E1736"/>
                </a:solidFill>
                <a:latin typeface="Calibri" pitchFamily="34" charset="0"/>
                <a:ea typeface="Calibri" pitchFamily="34" charset="-122"/>
                <a:cs typeface="Calibri" pitchFamily="34" charset="-120"/>
              </a:rPr>
              <a:t>Beyond the Special Case</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orb1"/>
          <p:cNvSpPr/>
          <p:nvPr/>
        </p:nvSpPr>
        <p:spPr>
          <a:xfrm>
            <a:off x="7223760" y="2834640"/>
            <a:ext cx="3474720" cy="3474720"/>
          </a:xfrm>
          <a:prstGeom prst="ellipse">
            <a:avLst/>
          </a:prstGeom>
          <a:solidFill>
            <a:srgbClr val="F6F8FC"/>
          </a:solidFill>
          <a:ln w="38100">
            <a:solidFill>
              <a:srgbClr val="D0D7E8"/>
            </a:solidFill>
            <a:prstDash val="solid"/>
          </a:ln>
        </p:spPr>
      </p:sp>
      <p:sp>
        <p:nvSpPr>
          <p:cNvPr id="4" name="!!orb2"/>
          <p:cNvSpPr/>
          <p:nvPr/>
        </p:nvSpPr>
        <p:spPr>
          <a:xfrm>
            <a:off x="-731520" y="-822960"/>
            <a:ext cx="1554480" cy="1554480"/>
          </a:xfrm>
          <a:prstGeom prst="ellipse">
            <a:avLst/>
          </a:prstGeom>
          <a:solidFill>
            <a:srgbClr val="F28C28">
              <a:alpha val="18000"/>
            </a:srgbClr>
          </a:solidFill>
          <a:ln w="3175">
            <a:solidFill>
              <a:srgbClr val="F28C28"/>
            </a:solidFill>
            <a:prstDash val="solid"/>
          </a:ln>
        </p:spPr>
      </p:sp>
      <p:sp>
        <p:nvSpPr>
          <p:cNvPr id="5" name="!!orb3"/>
          <p:cNvSpPr/>
          <p:nvPr/>
        </p:nvSpPr>
        <p:spPr>
          <a:xfrm>
            <a:off x="8229600" y="182880"/>
            <a:ext cx="822960" cy="82296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The problem: inputs and goal</a:t>
            </a:r>
            <a:endParaRPr lang="en-US" sz="3400" dirty="0"/>
          </a:p>
        </p:txBody>
      </p:sp>
      <p:sp>
        <p:nvSpPr>
          <p:cNvPr id="7" name="!!card1"/>
          <p:cNvSpPr/>
          <p:nvPr/>
        </p:nvSpPr>
        <p:spPr>
          <a:xfrm>
            <a:off x="457200" y="1280160"/>
            <a:ext cx="3977640" cy="2057400"/>
          </a:xfrm>
          <a:prstGeom prst="roundRect">
            <a:avLst>
              <a:gd name="adj" fmla="val 5333"/>
            </a:avLst>
          </a:prstGeom>
          <a:solidFill>
            <a:srgbClr val="FFFFFF"/>
          </a:solidFill>
          <a:ln w="15875">
            <a:solidFill>
              <a:srgbClr val="D0D7E8"/>
            </a:solidFill>
          </a:ln>
        </p:spPr>
        <p:txBody>
          <a:bodyPr wrap="square" lIns="127000" tIns="177800" rIns="177800" bIns="127000" rtlCol="0" anchor="t"/>
          <a:lstStyle/>
          <a:p>
            <a:pPr algn="l" indent="0" marL="0">
              <a:buNone/>
            </a:pPr>
            <a:r>
              <a:rPr lang="en-US" sz="2200" b="1" dirty="0">
                <a:solidFill>
                  <a:srgbClr val="F28C28"/>
                </a:solidFill>
                <a:latin typeface="Calibri" pitchFamily="34" charset="0"/>
                <a:ea typeface="Calibri" pitchFamily="34" charset="-122"/>
                <a:cs typeface="Calibri" pitchFamily="34" charset="-120"/>
              </a:rPr>
              <a:t>Input</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A set of n jobs. Each has a deadline and a profit, earned only if the job finishes by its deadline.</a:t>
            </a:r>
            <a:endParaRPr lang="en-US" sz="1600" dirty="0"/>
          </a:p>
        </p:txBody>
      </p:sp>
      <p:sp>
        <p:nvSpPr>
          <p:cNvPr id="8" name="!!card2"/>
          <p:cNvSpPr/>
          <p:nvPr/>
        </p:nvSpPr>
        <p:spPr>
          <a:xfrm>
            <a:off x="4709160" y="1280160"/>
            <a:ext cx="3977640" cy="2057400"/>
          </a:xfrm>
          <a:prstGeom prst="roundRect">
            <a:avLst>
              <a:gd name="adj" fmla="val 5333"/>
            </a:avLst>
          </a:prstGeom>
          <a:solidFill>
            <a:srgbClr val="FFFFFF"/>
          </a:solidFill>
          <a:ln w="15875">
            <a:solidFill>
              <a:srgbClr val="D0D7E8"/>
            </a:solidFill>
          </a:ln>
        </p:spPr>
        <p:txBody>
          <a:bodyPr wrap="square" lIns="127000" tIns="177800" rIns="177800" bIns="127000" rtlCol="0" anchor="t"/>
          <a:lstStyle/>
          <a:p>
            <a:pPr algn="l" indent="0" marL="0">
              <a:buNone/>
            </a:pPr>
            <a:r>
              <a:rPr lang="en-US" sz="2200" b="1" dirty="0">
                <a:solidFill>
                  <a:srgbClr val="F28C28"/>
                </a:solidFill>
                <a:latin typeface="Calibri" pitchFamily="34" charset="0"/>
                <a:ea typeface="Calibri" pitchFamily="34" charset="-122"/>
                <a:cs typeface="Calibri" pitchFamily="34" charset="-120"/>
              </a:rPr>
              <a:t>Output</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A subset of jobs, each finished before its deadline, with the maximum total profit.</a:t>
            </a:r>
            <a:endParaRPr lang="en-US" sz="1600" dirty="0"/>
          </a:p>
        </p:txBody>
      </p:sp>
      <p:sp>
        <p:nvSpPr>
          <p:cNvPr id="9" name="!!card3"/>
          <p:cNvSpPr/>
          <p:nvPr/>
        </p:nvSpPr>
        <p:spPr>
          <a:xfrm>
            <a:off x="457200" y="3611880"/>
            <a:ext cx="2560320" cy="868680"/>
          </a:xfrm>
          <a:prstGeom prst="roundRect">
            <a:avLst>
              <a:gd name="adj" fmla="val 12632"/>
            </a:avLst>
          </a:prstGeom>
          <a:solidFill>
            <a:srgbClr val="FFF1C2"/>
          </a:solidFill>
          <a:ln w="15875">
            <a:solidFill>
              <a:srgbClr val="F0D27A"/>
            </a:solidFill>
          </a:ln>
        </p:spPr>
        <p:txBody>
          <a:bodyPr wrap="square" lIns="127000" tIns="177800" rIns="177800" bIns="127000" rtlCol="0" anchor="ctr"/>
          <a:lstStyle/>
          <a:p>
            <a:pPr algn="l" indent="0" marL="0">
              <a:buNone/>
            </a:pPr>
            <a:r>
              <a:rPr lang="en-US" sz="1600" b="1" dirty="0">
                <a:solidFill>
                  <a:srgbClr val="0E1736"/>
                </a:solidFill>
                <a:latin typeface="Calibri" pitchFamily="34" charset="0"/>
                <a:ea typeface="Calibri" pitchFamily="34" charset="-122"/>
                <a:cs typeface="Calibri" pitchFamily="34" charset="-120"/>
              </a:rPr>
              <a:t>One machine runs every job</a:t>
            </a:r>
            <a:endParaRPr lang="en-US" sz="1600" dirty="0"/>
          </a:p>
        </p:txBody>
      </p:sp>
      <p:sp>
        <p:nvSpPr>
          <p:cNvPr id="10" name="!!card4"/>
          <p:cNvSpPr/>
          <p:nvPr/>
        </p:nvSpPr>
        <p:spPr>
          <a:xfrm>
            <a:off x="3291840" y="3611880"/>
            <a:ext cx="2560320" cy="868680"/>
          </a:xfrm>
          <a:prstGeom prst="roundRect">
            <a:avLst>
              <a:gd name="adj" fmla="val 12632"/>
            </a:avLst>
          </a:prstGeom>
          <a:solidFill>
            <a:srgbClr val="FFF1C2"/>
          </a:solidFill>
          <a:ln w="15875">
            <a:solidFill>
              <a:srgbClr val="F0D27A"/>
            </a:solidFill>
          </a:ln>
        </p:spPr>
        <p:txBody>
          <a:bodyPr wrap="square" lIns="127000" tIns="177800" rIns="177800" bIns="127000" rtlCol="0" anchor="ctr"/>
          <a:lstStyle/>
          <a:p>
            <a:pPr algn="l" indent="0" marL="0">
              <a:buNone/>
            </a:pPr>
            <a:r>
              <a:rPr lang="en-US" sz="1600" b="1" dirty="0">
                <a:solidFill>
                  <a:srgbClr val="0E1736"/>
                </a:solidFill>
                <a:latin typeface="Calibri" pitchFamily="34" charset="0"/>
                <a:ea typeface="Calibri" pitchFamily="34" charset="-122"/>
                <a:cs typeface="Calibri" pitchFamily="34" charset="-120"/>
              </a:rPr>
              <a:t>Each job takes one unit of time</a:t>
            </a:r>
            <a:endParaRPr lang="en-US" sz="1600" dirty="0"/>
          </a:p>
        </p:txBody>
      </p:sp>
      <p:sp>
        <p:nvSpPr>
          <p:cNvPr id="11" name="!!card5"/>
          <p:cNvSpPr/>
          <p:nvPr/>
        </p:nvSpPr>
        <p:spPr>
          <a:xfrm>
            <a:off x="6126480" y="3611880"/>
            <a:ext cx="2560320" cy="868680"/>
          </a:xfrm>
          <a:prstGeom prst="roundRect">
            <a:avLst>
              <a:gd name="adj" fmla="val 12632"/>
            </a:avLst>
          </a:prstGeom>
          <a:solidFill>
            <a:srgbClr val="FFF1C2"/>
          </a:solidFill>
          <a:ln w="15875">
            <a:solidFill>
              <a:srgbClr val="F0D27A"/>
            </a:solidFill>
          </a:ln>
        </p:spPr>
        <p:txBody>
          <a:bodyPr wrap="square" lIns="127000" tIns="177800" rIns="177800" bIns="127000" rtlCol="0" anchor="ctr"/>
          <a:lstStyle/>
          <a:p>
            <a:pPr algn="l" indent="0" marL="0">
              <a:buNone/>
            </a:pPr>
            <a:r>
              <a:rPr lang="en-US" sz="1600" b="1" dirty="0">
                <a:solidFill>
                  <a:srgbClr val="0E1736"/>
                </a:solidFill>
                <a:latin typeface="Calibri" pitchFamily="34" charset="0"/>
                <a:ea typeface="Calibri" pitchFamily="34" charset="-122"/>
                <a:cs typeface="Calibri" pitchFamily="34" charset="-120"/>
              </a:rPr>
              <a:t>Late job = zero profit</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orb1"/>
          <p:cNvSpPr/>
          <p:nvPr/>
        </p:nvSpPr>
        <p:spPr>
          <a:xfrm>
            <a:off x="-1280160" y="3108960"/>
            <a:ext cx="3291840" cy="3291840"/>
          </a:xfrm>
          <a:prstGeom prst="ellipse">
            <a:avLst/>
          </a:prstGeom>
          <a:solidFill>
            <a:srgbClr val="F6F8FC"/>
          </a:solidFill>
          <a:ln w="38100">
            <a:solidFill>
              <a:srgbClr val="D0D7E8"/>
            </a:solidFill>
            <a:prstDash val="solid"/>
          </a:ln>
        </p:spPr>
      </p:sp>
      <p:sp>
        <p:nvSpPr>
          <p:cNvPr id="4" name="!!orb2"/>
          <p:cNvSpPr/>
          <p:nvPr/>
        </p:nvSpPr>
        <p:spPr>
          <a:xfrm>
            <a:off x="7863840" y="-548640"/>
            <a:ext cx="1371600" cy="1371600"/>
          </a:xfrm>
          <a:prstGeom prst="ellipse">
            <a:avLst/>
          </a:prstGeom>
          <a:solidFill>
            <a:srgbClr val="F28C28">
              <a:alpha val="18000"/>
            </a:srgbClr>
          </a:solidFill>
          <a:ln w="3175">
            <a:solidFill>
              <a:srgbClr val="F28C28"/>
            </a:solidFill>
            <a:prstDash val="solid"/>
          </a:ln>
        </p:spPr>
      </p:sp>
      <p:sp>
        <p:nvSpPr>
          <p:cNvPr id="5" name="!!orb3"/>
          <p:cNvSpPr/>
          <p:nvPr/>
        </p:nvSpPr>
        <p:spPr>
          <a:xfrm>
            <a:off x="8412480" y="356616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A greedy strategy in 3 steps</a:t>
            </a:r>
            <a:endParaRPr lang="en-US" sz="3400" dirty="0"/>
          </a:p>
        </p:txBody>
      </p:sp>
      <p:sp>
        <p:nvSpPr>
          <p:cNvPr id="7" name="!!card1"/>
          <p:cNvSpPr/>
          <p:nvPr/>
        </p:nvSpPr>
        <p:spPr>
          <a:xfrm>
            <a:off x="457200" y="1280160"/>
            <a:ext cx="2560320" cy="1783080"/>
          </a:xfrm>
          <a:prstGeom prst="roundRect">
            <a:avLst>
              <a:gd name="adj" fmla="val 6154"/>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F28C28"/>
                </a:solidFill>
                <a:latin typeface="Calibri" pitchFamily="34" charset="0"/>
                <a:ea typeface="Calibri" pitchFamily="34" charset="-122"/>
                <a:cs typeface="Calibri" pitchFamily="34" charset="-120"/>
              </a:rPr>
              <a:t>1  Sort jobs</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Order all jobs by profit, highest first.</a:t>
            </a:r>
            <a:endParaRPr lang="en-US" sz="1600" dirty="0"/>
          </a:p>
        </p:txBody>
      </p:sp>
      <p:sp>
        <p:nvSpPr>
          <p:cNvPr id="8" name="!!card2"/>
          <p:cNvSpPr/>
          <p:nvPr/>
        </p:nvSpPr>
        <p:spPr>
          <a:xfrm>
            <a:off x="3291840" y="1280160"/>
            <a:ext cx="2560320" cy="1783080"/>
          </a:xfrm>
          <a:prstGeom prst="roundRect">
            <a:avLst>
              <a:gd name="adj" fmla="val 6154"/>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F28C28"/>
                </a:solidFill>
                <a:latin typeface="Calibri" pitchFamily="34" charset="0"/>
                <a:ea typeface="Calibri" pitchFamily="34" charset="-122"/>
                <a:cs typeface="Calibri" pitchFamily="34" charset="-120"/>
              </a:rPr>
              <a:t>2  Find max time</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The largest deadline sets the number of slots.</a:t>
            </a:r>
            <a:endParaRPr lang="en-US" sz="1600" dirty="0"/>
          </a:p>
        </p:txBody>
      </p:sp>
      <p:sp>
        <p:nvSpPr>
          <p:cNvPr id="9" name="!!card3"/>
          <p:cNvSpPr/>
          <p:nvPr/>
        </p:nvSpPr>
        <p:spPr>
          <a:xfrm>
            <a:off x="6126480" y="1280160"/>
            <a:ext cx="2560320" cy="1783080"/>
          </a:xfrm>
          <a:prstGeom prst="roundRect">
            <a:avLst>
              <a:gd name="adj" fmla="val 6154"/>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F28C28"/>
                </a:solidFill>
                <a:latin typeface="Calibri" pitchFamily="34" charset="0"/>
                <a:ea typeface="Calibri" pitchFamily="34" charset="-122"/>
                <a:cs typeface="Calibri" pitchFamily="34" charset="-120"/>
              </a:rPr>
              <a:t>3  Place late</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Put each job in the latest free slot before its deadline.</a:t>
            </a:r>
            <a:endParaRPr lang="en-US" sz="1600" dirty="0"/>
          </a:p>
        </p:txBody>
      </p:sp>
      <p:sp>
        <p:nvSpPr>
          <p:cNvPr id="10" name="!!card4"/>
          <p:cNvSpPr/>
          <p:nvPr/>
        </p:nvSpPr>
        <p:spPr>
          <a:xfrm>
            <a:off x="457200" y="3383280"/>
            <a:ext cx="8229600" cy="1097280"/>
          </a:xfrm>
          <a:prstGeom prst="roundRect">
            <a:avLst>
              <a:gd name="adj" fmla="val 10000"/>
            </a:avLst>
          </a:prstGeom>
          <a:solidFill>
            <a:srgbClr val="FFF1C2"/>
          </a:solidFill>
          <a:ln w="15875">
            <a:solidFill>
              <a:srgbClr val="F0D27A"/>
            </a:solidFill>
          </a:ln>
        </p:spPr>
        <p:txBody>
          <a:bodyPr wrap="square" lIns="127000" tIns="254000" rIns="254000" bIns="127000" rtlCol="0" anchor="ctr"/>
          <a:lstStyle/>
          <a:p>
            <a:pPr algn="l" indent="0" marL="0">
              <a:buNone/>
            </a:pPr>
            <a:r>
              <a:rPr lang="en-US" sz="1800" b="1" i="1" dirty="0">
                <a:solidFill>
                  <a:srgbClr val="0E1736"/>
                </a:solidFill>
                <a:latin typeface="Calibri" pitchFamily="34" charset="0"/>
                <a:ea typeface="Calibri" pitchFamily="34" charset="-122"/>
                <a:cs typeface="Calibri" pitchFamily="34" charset="-120"/>
              </a:rPr>
              <a:t>Nothing is gained by scheduling a job earlier, and scheduling it earlier could prevent another job from fitting.</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orb1"/>
          <p:cNvSpPr/>
          <p:nvPr/>
        </p:nvSpPr>
        <p:spPr>
          <a:xfrm>
            <a:off x="7040880" y="2468880"/>
            <a:ext cx="3108960" cy="3108960"/>
          </a:xfrm>
          <a:prstGeom prst="ellipse">
            <a:avLst/>
          </a:prstGeom>
          <a:solidFill>
            <a:srgbClr val="F6F8FC"/>
          </a:solidFill>
          <a:ln w="38100">
            <a:solidFill>
              <a:srgbClr val="D0D7E8"/>
            </a:solidFill>
            <a:prstDash val="solid"/>
          </a:ln>
        </p:spPr>
      </p:sp>
      <p:sp>
        <p:nvSpPr>
          <p:cNvPr id="4" name="!!orb2"/>
          <p:cNvSpPr/>
          <p:nvPr/>
        </p:nvSpPr>
        <p:spPr>
          <a:xfrm>
            <a:off x="-548640" y="4114800"/>
            <a:ext cx="1188720" cy="1188720"/>
          </a:xfrm>
          <a:prstGeom prst="ellipse">
            <a:avLst/>
          </a:prstGeom>
          <a:solidFill>
            <a:srgbClr val="F28C28">
              <a:alpha val="18000"/>
            </a:srgbClr>
          </a:solidFill>
          <a:ln w="3175">
            <a:solidFill>
              <a:srgbClr val="F28C28"/>
            </a:solidFill>
            <a:prstDash val="solid"/>
          </a:ln>
        </p:spPr>
      </p:sp>
      <p:sp>
        <p:nvSpPr>
          <p:cNvPr id="5" name="!!orb3"/>
          <p:cNvSpPr/>
          <p:nvPr/>
        </p:nvSpPr>
        <p:spPr>
          <a:xfrm>
            <a:off x="8412480" y="274320"/>
            <a:ext cx="731520" cy="73152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Why placing late is safe</a:t>
            </a:r>
            <a:endParaRPr lang="en-US" sz="3400" dirty="0"/>
          </a:p>
        </p:txBody>
      </p:sp>
      <p:sp>
        <p:nvSpPr>
          <p:cNvPr id="7" name="!!card1"/>
          <p:cNvSpPr/>
          <p:nvPr/>
        </p:nvSpPr>
        <p:spPr>
          <a:xfrm>
            <a:off x="457200" y="1234440"/>
            <a:ext cx="3977640" cy="1691640"/>
          </a:xfrm>
          <a:prstGeom prst="roundRect">
            <a:avLst>
              <a:gd name="adj" fmla="val 6486"/>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F28C28"/>
                </a:solidFill>
                <a:latin typeface="Calibri" pitchFamily="34" charset="0"/>
                <a:ea typeface="Calibri" pitchFamily="34" charset="-122"/>
                <a:cs typeface="Calibri" pitchFamily="34" charset="-120"/>
              </a:rPr>
              <a:t>Proposition</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A set of jobs can all meet their deadlines if and only if the same jobs, sorted by deadline, can.</a:t>
            </a:r>
            <a:endParaRPr lang="en-US" sz="1600" dirty="0"/>
          </a:p>
        </p:txBody>
      </p:sp>
      <p:sp>
        <p:nvSpPr>
          <p:cNvPr id="8" name="!!card2"/>
          <p:cNvSpPr/>
          <p:nvPr/>
        </p:nvSpPr>
        <p:spPr>
          <a:xfrm>
            <a:off x="4709160" y="1234440"/>
            <a:ext cx="3977640" cy="1691640"/>
          </a:xfrm>
          <a:prstGeom prst="roundRect">
            <a:avLst>
              <a:gd name="adj" fmla="val 6486"/>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F28C28"/>
                </a:solidFill>
                <a:latin typeface="Calibri" pitchFamily="34" charset="0"/>
                <a:ea typeface="Calibri" pitchFamily="34" charset="-122"/>
                <a:cs typeface="Calibri" pitchFamily="34" charset="-120"/>
              </a:rPr>
              <a:t>Proof idea</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Sorted works, so the set is feasible by definition. Feasible means any out-of-order pair can be swapped.</a:t>
            </a:r>
            <a:endParaRPr lang="en-US" sz="1600" dirty="0"/>
          </a:p>
        </p:txBody>
      </p:sp>
      <p:sp>
        <p:nvSpPr>
          <p:cNvPr id="9" name="!!card3"/>
          <p:cNvSpPr/>
          <p:nvPr/>
        </p:nvSpPr>
        <p:spPr>
          <a:xfrm>
            <a:off x="457200" y="3200400"/>
            <a:ext cx="8229600" cy="1371600"/>
          </a:xfrm>
          <a:prstGeom prst="roundRect">
            <a:avLst>
              <a:gd name="adj" fmla="val 8000"/>
            </a:avLst>
          </a:prstGeom>
          <a:solidFill>
            <a:srgbClr val="FFFFFF"/>
          </a:solidFill>
          <a:ln w="15875">
            <a:solidFill>
              <a:srgbClr val="D0D7E8"/>
            </a:solidFill>
          </a:ln>
        </p:spPr>
        <p:txBody>
          <a:bodyPr wrap="square" lIns="127000" tIns="177800" rIns="177800" bIns="127000" rtlCol="0" anchor="t"/>
          <a:lstStyle/>
          <a:p>
            <a:pPr algn="l" indent="0" marL="0">
              <a:buNone/>
            </a:pPr>
            <a:endParaRPr lang="en-US" sz="1600" dirty="0"/>
          </a:p>
        </p:txBody>
      </p:sp>
      <p:sp>
        <p:nvSpPr>
          <p:cNvPr id="10" name="!!swapLbl"/>
          <p:cNvSpPr txBox="1"/>
          <p:nvPr/>
        </p:nvSpPr>
        <p:spPr>
          <a:xfrm>
            <a:off x="685800" y="3291840"/>
            <a:ext cx="2194560" cy="1188720"/>
          </a:xfrm>
          <a:prstGeom prst="rect">
            <a:avLst/>
          </a:prstGeom>
          <a:noFill/>
          <a:ln/>
        </p:spPr>
        <p:txBody>
          <a:bodyPr wrap="square" lIns="0" tIns="0" rIns="0" bIns="0" rtlCol="0" anchor="ctr"/>
          <a:lstStyle/>
          <a:p>
            <a:pPr indent="0" marL="0">
              <a:buNone/>
            </a:pPr>
            <a:r>
              <a:rPr lang="en-US" sz="1800" b="1" dirty="0">
                <a:solidFill>
                  <a:srgbClr val="0E1736"/>
                </a:solidFill>
              </a:rPr>
              <a:t>Swap an out-of-order pair</a:t>
            </a:r>
            <a:endParaRPr lang="en-US" sz="1800" dirty="0"/>
          </a:p>
        </p:txBody>
      </p:sp>
      <p:sp>
        <p:nvSpPr>
          <p:cNvPr id="11" name="!!tokA"/>
          <p:cNvSpPr/>
          <p:nvPr/>
        </p:nvSpPr>
        <p:spPr>
          <a:xfrm>
            <a:off x="3017520" y="3611880"/>
            <a:ext cx="640080" cy="640080"/>
          </a:xfrm>
          <a:prstGeom prst="roundRect">
            <a:avLst>
              <a:gd name="adj" fmla="val 1428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p:txBody>
      </p:sp>
      <p:sp>
        <p:nvSpPr>
          <p:cNvPr id="12" name="!!tokB"/>
          <p:cNvSpPr/>
          <p:nvPr/>
        </p:nvSpPr>
        <p:spPr>
          <a:xfrm>
            <a:off x="3749040" y="3611880"/>
            <a:ext cx="640080" cy="640080"/>
          </a:xfrm>
          <a:prstGeom prst="roundRect">
            <a:avLst>
              <a:gd name="adj" fmla="val 14286"/>
            </a:avLst>
          </a:prstGeom>
          <a:solidFill>
            <a:srgbClr val="CADCFC"/>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p:txBody>
      </p:sp>
      <p:sp>
        <p:nvSpPr>
          <p:cNvPr id="13" name="!!swapArrow"/>
          <p:cNvSpPr txBox="1"/>
          <p:nvPr/>
        </p:nvSpPr>
        <p:spPr>
          <a:xfrm>
            <a:off x="4572000" y="3611880"/>
            <a:ext cx="548640" cy="640080"/>
          </a:xfrm>
          <a:prstGeom prst="rect">
            <a:avLst/>
          </a:prstGeom>
          <a:noFill/>
          <a:ln/>
        </p:spPr>
        <p:txBody>
          <a:bodyPr wrap="square" lIns="0" tIns="0" rIns="0" bIns="0" rtlCol="0" anchor="ctr"/>
          <a:lstStyle/>
          <a:p>
            <a:pPr algn="ctr" indent="0" marL="0">
              <a:buNone/>
            </a:pPr>
            <a:r>
              <a:rPr lang="en-US" sz="2800" b="1" dirty="0">
                <a:solidFill>
                  <a:srgbClr val="F28C28"/>
                </a:solidFill>
              </a:rPr>
              <a:t>→</a:t>
            </a:r>
            <a:endParaRPr lang="en-US" sz="2800" dirty="0"/>
          </a:p>
        </p:txBody>
      </p:sp>
      <p:sp>
        <p:nvSpPr>
          <p:cNvPr id="14" name="!!tokB2"/>
          <p:cNvSpPr/>
          <p:nvPr/>
        </p:nvSpPr>
        <p:spPr>
          <a:xfrm>
            <a:off x="5212080" y="3611880"/>
            <a:ext cx="640080" cy="640080"/>
          </a:xfrm>
          <a:prstGeom prst="roundRect">
            <a:avLst>
              <a:gd name="adj" fmla="val 14286"/>
            </a:avLst>
          </a:prstGeom>
          <a:solidFill>
            <a:srgbClr val="CADCFC"/>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p:txBody>
      </p:sp>
      <p:sp>
        <p:nvSpPr>
          <p:cNvPr id="15" name="!!tokA2"/>
          <p:cNvSpPr/>
          <p:nvPr/>
        </p:nvSpPr>
        <p:spPr>
          <a:xfrm>
            <a:off x="5943600" y="3611880"/>
            <a:ext cx="640080" cy="640080"/>
          </a:xfrm>
          <a:prstGeom prst="roundRect">
            <a:avLst>
              <a:gd name="adj" fmla="val 1428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p:txBody>
      </p:sp>
      <p:sp>
        <p:nvSpPr>
          <p:cNvPr id="16" name="!!swapNote"/>
          <p:cNvSpPr txBox="1"/>
          <p:nvPr/>
        </p:nvSpPr>
        <p:spPr>
          <a:xfrm>
            <a:off x="6766560" y="3337560"/>
            <a:ext cx="1783080" cy="1097280"/>
          </a:xfrm>
          <a:prstGeom prst="rect">
            <a:avLst/>
          </a:prstGeom>
          <a:noFill/>
          <a:ln/>
        </p:spPr>
        <p:txBody>
          <a:bodyPr wrap="square" lIns="0" tIns="0" rIns="0" bIns="0" rtlCol="0" anchor="ctr"/>
          <a:lstStyle/>
          <a:p>
            <a:pPr indent="0" marL="0">
              <a:buNone/>
            </a:pPr>
            <a:r>
              <a:rPr lang="en-US" sz="1400" dirty="0">
                <a:solidFill>
                  <a:srgbClr val="5B6585"/>
                </a:solidFill>
              </a:rPr>
              <a:t>Deadline(A) ≥ Deadline(B), so both still finish on time.</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orb1"/>
          <p:cNvSpPr/>
          <p:nvPr/>
        </p:nvSpPr>
        <p:spPr>
          <a:xfrm>
            <a:off x="7040880" y="-1188720"/>
            <a:ext cx="2743200" cy="2743200"/>
          </a:xfrm>
          <a:prstGeom prst="ellipse">
            <a:avLst/>
          </a:prstGeom>
          <a:solidFill>
            <a:srgbClr val="F6F8FC"/>
          </a:solidFill>
          <a:ln w="38100">
            <a:solidFill>
              <a:srgbClr val="D0D7E8"/>
            </a:solidFill>
            <a:prstDash val="solid"/>
          </a:ln>
        </p:spPr>
      </p:sp>
      <p:sp>
        <p:nvSpPr>
          <p:cNvPr id="4" name="!!orb2"/>
          <p:cNvSpPr/>
          <p:nvPr/>
        </p:nvSpPr>
        <p:spPr>
          <a:xfrm>
            <a:off x="-914400" y="44805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503920" y="182880"/>
            <a:ext cx="731520" cy="73152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Our example: five jobs</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59436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B"/>
          <p:cNvSpPr/>
          <p:nvPr/>
        </p:nvSpPr>
        <p:spPr>
          <a:xfrm>
            <a:off x="224028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a:p>
            <a:pPr algn="ctr" indent="0" marL="0">
              <a:buNone/>
            </a:pPr>
            <a:r>
              <a:rPr lang="en-US" sz="1100" dirty="0">
                <a:solidFill>
                  <a:srgbClr val="0E1736"/>
                </a:solidFill>
              </a:rPr>
              <a:t>$19 · d=1</a:t>
            </a:r>
            <a:endParaRPr lang="en-US" sz="2000" dirty="0"/>
          </a:p>
        </p:txBody>
      </p:sp>
      <p:sp>
        <p:nvSpPr>
          <p:cNvPr id="16" name="!!tokC"/>
          <p:cNvSpPr/>
          <p:nvPr/>
        </p:nvSpPr>
        <p:spPr>
          <a:xfrm>
            <a:off x="388620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7" name="!!tokD"/>
          <p:cNvSpPr/>
          <p:nvPr/>
        </p:nvSpPr>
        <p:spPr>
          <a:xfrm>
            <a:off x="553212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D</a:t>
            </a:r>
            <a:endParaRPr lang="en-US" sz="2000" dirty="0"/>
          </a:p>
          <a:p>
            <a:pPr algn="ctr" indent="0" marL="0">
              <a:buNone/>
            </a:pPr>
            <a:r>
              <a:rPr lang="en-US" sz="1100" dirty="0">
                <a:solidFill>
                  <a:srgbClr val="0E1736"/>
                </a:solidFill>
              </a:rPr>
              <a:t>$25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Five jobs, each with a profit and a deadline. The largest deadline is 3, so we need three time slots.</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orb1"/>
          <p:cNvSpPr/>
          <p:nvPr/>
        </p:nvSpPr>
        <p:spPr>
          <a:xfrm>
            <a:off x="7223760" y="-1371600"/>
            <a:ext cx="2743200" cy="2743200"/>
          </a:xfrm>
          <a:prstGeom prst="ellipse">
            <a:avLst/>
          </a:prstGeom>
          <a:solidFill>
            <a:srgbClr val="F6F8FC"/>
          </a:solidFill>
          <a:ln w="38100">
            <a:solidFill>
              <a:srgbClr val="D0D7E8"/>
            </a:solidFill>
            <a:prstDash val="solid"/>
          </a:ln>
        </p:spPr>
      </p:sp>
      <p:sp>
        <p:nvSpPr>
          <p:cNvPr id="4" name="!!orb2"/>
          <p:cNvSpPr/>
          <p:nvPr/>
        </p:nvSpPr>
        <p:spPr>
          <a:xfrm>
            <a:off x="-109728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41248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Step 1: sort by profit</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59436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224028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388620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D</a:t>
            </a:r>
            <a:endParaRPr lang="en-US" sz="2000" dirty="0"/>
          </a:p>
          <a:p>
            <a:pPr algn="ctr" indent="0" marL="0">
              <a:buNone/>
            </a:pPr>
            <a:r>
              <a:rPr lang="en-US" sz="1100" dirty="0">
                <a:solidFill>
                  <a:srgbClr val="0E1736"/>
                </a:solidFill>
              </a:rPr>
              <a:t>$25 · d=1</a:t>
            </a:r>
            <a:endParaRPr lang="en-US" sz="2000" dirty="0"/>
          </a:p>
        </p:txBody>
      </p:sp>
      <p:sp>
        <p:nvSpPr>
          <p:cNvPr id="17" name="!!tokB"/>
          <p:cNvSpPr/>
          <p:nvPr/>
        </p:nvSpPr>
        <p:spPr>
          <a:xfrm>
            <a:off x="553212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a:p>
            <a:pPr algn="ctr" indent="0" marL="0">
              <a:buNone/>
            </a:pPr>
            <a:r>
              <a:rPr lang="en-US" sz="1100" dirty="0">
                <a:solidFill>
                  <a:srgbClr val="0E1736"/>
                </a:solidFill>
              </a:rPr>
              <a:t>$19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Sorted by profit: A ($100), C ($27), D ($25), B ($19), E ($15).</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orb1"/>
          <p:cNvSpPr/>
          <p:nvPr/>
        </p:nvSpPr>
        <p:spPr>
          <a:xfrm>
            <a:off x="7315200" y="-1554480"/>
            <a:ext cx="2743200" cy="2743200"/>
          </a:xfrm>
          <a:prstGeom prst="ellipse">
            <a:avLst/>
          </a:prstGeom>
          <a:solidFill>
            <a:srgbClr val="F6F8FC"/>
          </a:solidFill>
          <a:ln w="38100">
            <a:solidFill>
              <a:srgbClr val="D0D7E8"/>
            </a:solidFill>
            <a:prstDash val="solid"/>
          </a:ln>
        </p:spPr>
      </p:sp>
      <p:sp>
        <p:nvSpPr>
          <p:cNvPr id="4" name="!!orb2"/>
          <p:cNvSpPr/>
          <p:nvPr/>
        </p:nvSpPr>
        <p:spPr>
          <a:xfrm>
            <a:off x="-82296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22960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A has deadline 2: take slot 2</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224028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388620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D</a:t>
            </a:r>
            <a:endParaRPr lang="en-US" sz="2000" dirty="0"/>
          </a:p>
          <a:p>
            <a:pPr algn="ctr" indent="0" marL="0">
              <a:buNone/>
            </a:pPr>
            <a:r>
              <a:rPr lang="en-US" sz="1100" dirty="0">
                <a:solidFill>
                  <a:srgbClr val="0E1736"/>
                </a:solidFill>
              </a:rPr>
              <a:t>$25 · d=1</a:t>
            </a:r>
            <a:endParaRPr lang="en-US" sz="2000" dirty="0"/>
          </a:p>
        </p:txBody>
      </p:sp>
      <p:sp>
        <p:nvSpPr>
          <p:cNvPr id="17" name="!!tokB"/>
          <p:cNvSpPr/>
          <p:nvPr/>
        </p:nvSpPr>
        <p:spPr>
          <a:xfrm>
            <a:off x="553212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a:p>
            <a:pPr algn="ctr" indent="0" marL="0">
              <a:buNone/>
            </a:pPr>
            <a:r>
              <a:rPr lang="en-US" sz="1100" dirty="0">
                <a:solidFill>
                  <a:srgbClr val="0E1736"/>
                </a:solidFill>
              </a:rPr>
              <a:t>$19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A: deadline 2, so it goes in the latest free slot on or before 2, which is slot 2.</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orb1"/>
          <p:cNvSpPr/>
          <p:nvPr/>
        </p:nvSpPr>
        <p:spPr>
          <a:xfrm>
            <a:off x="7498080" y="-1371600"/>
            <a:ext cx="2743200" cy="2743200"/>
          </a:xfrm>
          <a:prstGeom prst="ellipse">
            <a:avLst/>
          </a:prstGeom>
          <a:solidFill>
            <a:srgbClr val="F6F8FC"/>
          </a:solidFill>
          <a:ln w="38100">
            <a:solidFill>
              <a:srgbClr val="D0D7E8"/>
            </a:solidFill>
            <a:prstDash val="solid"/>
          </a:ln>
        </p:spPr>
      </p:sp>
      <p:sp>
        <p:nvSpPr>
          <p:cNvPr id="4" name="!!orb2"/>
          <p:cNvSpPr/>
          <p:nvPr/>
        </p:nvSpPr>
        <p:spPr>
          <a:xfrm>
            <a:off x="-731520" y="4709160"/>
            <a:ext cx="1371600" cy="1371600"/>
          </a:xfrm>
          <a:prstGeom prst="ellipse">
            <a:avLst/>
          </a:prstGeom>
          <a:solidFill>
            <a:srgbClr val="F28C28">
              <a:alpha val="18000"/>
            </a:srgbClr>
          </a:solidFill>
          <a:ln w="3175">
            <a:solidFill>
              <a:srgbClr val="F28C28"/>
            </a:solidFill>
            <a:prstDash val="solid"/>
          </a:ln>
        </p:spPr>
      </p:sp>
      <p:sp>
        <p:nvSpPr>
          <p:cNvPr id="5" name="!!orb3"/>
          <p:cNvSpPr/>
          <p:nvPr/>
        </p:nvSpPr>
        <p:spPr>
          <a:xfrm>
            <a:off x="850392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C: slot 2 taken, use slot 1</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66294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388620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D</a:t>
            </a:r>
            <a:endParaRPr lang="en-US" sz="2000" dirty="0"/>
          </a:p>
          <a:p>
            <a:pPr algn="ctr" indent="0" marL="0">
              <a:buNone/>
            </a:pPr>
            <a:r>
              <a:rPr lang="en-US" sz="1100" dirty="0">
                <a:solidFill>
                  <a:srgbClr val="0E1736"/>
                </a:solidFill>
              </a:rPr>
              <a:t>$25 · d=1</a:t>
            </a:r>
            <a:endParaRPr lang="en-US" sz="2000" dirty="0"/>
          </a:p>
        </p:txBody>
      </p:sp>
      <p:sp>
        <p:nvSpPr>
          <p:cNvPr id="17" name="!!tokB"/>
          <p:cNvSpPr/>
          <p:nvPr/>
        </p:nvSpPr>
        <p:spPr>
          <a:xfrm>
            <a:off x="553212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a:p>
            <a:pPr algn="ctr" indent="0" marL="0">
              <a:buNone/>
            </a:pPr>
            <a:r>
              <a:rPr lang="en-US" sz="1100" dirty="0">
                <a:solidFill>
                  <a:srgbClr val="0E1736"/>
                </a:solidFill>
              </a:rPr>
              <a:t>$19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C: deadline 2, but slot 2 is taken. Move one slot earlier to slot 1.</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orb1"/>
          <p:cNvSpPr/>
          <p:nvPr/>
        </p:nvSpPr>
        <p:spPr>
          <a:xfrm>
            <a:off x="7406640" y="-1280160"/>
            <a:ext cx="2743200" cy="2743200"/>
          </a:xfrm>
          <a:prstGeom prst="ellipse">
            <a:avLst/>
          </a:prstGeom>
          <a:solidFill>
            <a:srgbClr val="F6F8FC"/>
          </a:solidFill>
          <a:ln w="38100">
            <a:solidFill>
              <a:srgbClr val="D0D7E8"/>
            </a:solidFill>
            <a:prstDash val="solid"/>
          </a:ln>
        </p:spPr>
      </p:sp>
      <p:sp>
        <p:nvSpPr>
          <p:cNvPr id="4" name="!!orb2"/>
          <p:cNvSpPr/>
          <p:nvPr/>
        </p:nvSpPr>
        <p:spPr>
          <a:xfrm>
            <a:off x="-91440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32104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D: slot 1 is full, skip it</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66294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662940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D</a:t>
            </a:r>
            <a:endParaRPr lang="en-US" sz="2000" dirty="0"/>
          </a:p>
          <a:p>
            <a:pPr algn="ctr" indent="0" marL="0">
              <a:buNone/>
            </a:pPr>
            <a:r>
              <a:rPr lang="en-US" sz="1100" dirty="0">
                <a:solidFill>
                  <a:srgbClr val="8C1D18"/>
                </a:solidFill>
              </a:rPr>
              <a:t>$25 · d=1</a:t>
            </a:r>
            <a:endParaRPr lang="en-US" sz="2000" dirty="0"/>
          </a:p>
        </p:txBody>
      </p:sp>
      <p:sp>
        <p:nvSpPr>
          <p:cNvPr id="17" name="!!tokB"/>
          <p:cNvSpPr/>
          <p:nvPr/>
        </p:nvSpPr>
        <p:spPr>
          <a:xfrm>
            <a:off x="553212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B</a:t>
            </a:r>
            <a:endParaRPr lang="en-US" sz="2000" dirty="0"/>
          </a:p>
          <a:p>
            <a:pPr algn="ctr" indent="0" marL="0">
              <a:buNone/>
            </a:pPr>
            <a:r>
              <a:rPr lang="en-US" sz="1100" dirty="0">
                <a:solidFill>
                  <a:srgbClr val="0E1736"/>
                </a:solidFill>
              </a:rPr>
              <a:t>$19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D: deadline 1, but slot 1 is already used and nothing earlier exists. D is rejected.</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orb1"/>
          <p:cNvSpPr/>
          <p:nvPr/>
        </p:nvSpPr>
        <p:spPr>
          <a:xfrm>
            <a:off x="7315200" y="-1463040"/>
            <a:ext cx="2743200" cy="2743200"/>
          </a:xfrm>
          <a:prstGeom prst="ellipse">
            <a:avLst/>
          </a:prstGeom>
          <a:solidFill>
            <a:srgbClr val="F6F8FC"/>
          </a:solidFill>
          <a:ln w="38100">
            <a:solidFill>
              <a:srgbClr val="D0D7E8"/>
            </a:solidFill>
            <a:prstDash val="solid"/>
          </a:ln>
        </p:spPr>
      </p:sp>
      <p:sp>
        <p:nvSpPr>
          <p:cNvPr id="4" name="!!orb2"/>
          <p:cNvSpPr/>
          <p:nvPr/>
        </p:nvSpPr>
        <p:spPr>
          <a:xfrm>
            <a:off x="-100584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41248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B: slot 1 still full, skip</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66294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662940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D</a:t>
            </a:r>
            <a:endParaRPr lang="en-US" sz="2000" dirty="0"/>
          </a:p>
          <a:p>
            <a:pPr algn="ctr" indent="0" marL="0">
              <a:buNone/>
            </a:pPr>
            <a:r>
              <a:rPr lang="en-US" sz="1100" dirty="0">
                <a:solidFill>
                  <a:srgbClr val="8C1D18"/>
                </a:solidFill>
              </a:rPr>
              <a:t>$25 · d=1</a:t>
            </a:r>
            <a:endParaRPr lang="en-US" sz="2000" dirty="0"/>
          </a:p>
        </p:txBody>
      </p:sp>
      <p:sp>
        <p:nvSpPr>
          <p:cNvPr id="17" name="!!tokB"/>
          <p:cNvSpPr/>
          <p:nvPr/>
        </p:nvSpPr>
        <p:spPr>
          <a:xfrm>
            <a:off x="768096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B</a:t>
            </a:r>
            <a:endParaRPr lang="en-US" sz="2000" dirty="0"/>
          </a:p>
          <a:p>
            <a:pPr algn="ctr" indent="0" marL="0">
              <a:buNone/>
            </a:pPr>
            <a:r>
              <a:rPr lang="en-US" sz="1100" dirty="0">
                <a:solidFill>
                  <a:srgbClr val="8C1D18"/>
                </a:solidFill>
              </a:rPr>
              <a:t>$19 · d=1</a:t>
            </a:r>
            <a:endParaRPr lang="en-US" sz="2000" dirty="0"/>
          </a:p>
        </p:txBody>
      </p:sp>
      <p:sp>
        <p:nvSpPr>
          <p:cNvPr id="18" name="!!tokE"/>
          <p:cNvSpPr/>
          <p:nvPr/>
        </p:nvSpPr>
        <p:spPr>
          <a:xfrm>
            <a:off x="7178040" y="1371600"/>
            <a:ext cx="1371600" cy="868680"/>
          </a:xfrm>
          <a:prstGeom prst="roundRect">
            <a:avLst>
              <a:gd name="adj" fmla="val 10526"/>
            </a:avLst>
          </a:prstGeom>
          <a:solidFill>
            <a:srgbClr val="E3E9F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B: deadline 1 as well. Slot 1 is taken, so B is rejected too.</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orb1"/>
          <p:cNvSpPr/>
          <p:nvPr/>
        </p:nvSpPr>
        <p:spPr>
          <a:xfrm>
            <a:off x="7132320" y="-1371600"/>
            <a:ext cx="2743200" cy="2743200"/>
          </a:xfrm>
          <a:prstGeom prst="ellipse">
            <a:avLst/>
          </a:prstGeom>
          <a:solidFill>
            <a:srgbClr val="F6F8FC"/>
          </a:solidFill>
          <a:ln w="38100">
            <a:solidFill>
              <a:srgbClr val="D0D7E8"/>
            </a:solidFill>
            <a:prstDash val="solid"/>
          </a:ln>
        </p:spPr>
      </p:sp>
      <p:sp>
        <p:nvSpPr>
          <p:cNvPr id="4" name="!!orb2"/>
          <p:cNvSpPr/>
          <p:nvPr/>
        </p:nvSpPr>
        <p:spPr>
          <a:xfrm>
            <a:off x="-82296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50392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E has deadline 3: take slot 3</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JOB POOL</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66294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662940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D</a:t>
            </a:r>
            <a:endParaRPr lang="en-US" sz="2000" dirty="0"/>
          </a:p>
          <a:p>
            <a:pPr algn="ctr" indent="0" marL="0">
              <a:buNone/>
            </a:pPr>
            <a:r>
              <a:rPr lang="en-US" sz="1100" dirty="0">
                <a:solidFill>
                  <a:srgbClr val="8C1D18"/>
                </a:solidFill>
              </a:rPr>
              <a:t>$25 · d=1</a:t>
            </a:r>
            <a:endParaRPr lang="en-US" sz="2000" dirty="0"/>
          </a:p>
        </p:txBody>
      </p:sp>
      <p:sp>
        <p:nvSpPr>
          <p:cNvPr id="17" name="!!tokB"/>
          <p:cNvSpPr/>
          <p:nvPr/>
        </p:nvSpPr>
        <p:spPr>
          <a:xfrm>
            <a:off x="768096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B</a:t>
            </a:r>
            <a:endParaRPr lang="en-US" sz="2000" dirty="0"/>
          </a:p>
          <a:p>
            <a:pPr algn="ctr" indent="0" marL="0">
              <a:buNone/>
            </a:pPr>
            <a:r>
              <a:rPr lang="en-US" sz="1100" dirty="0">
                <a:solidFill>
                  <a:srgbClr val="8C1D18"/>
                </a:solidFill>
              </a:rPr>
              <a:t>$19 · d=1</a:t>
            </a:r>
            <a:endParaRPr lang="en-US" sz="2000" dirty="0"/>
          </a:p>
        </p:txBody>
      </p:sp>
      <p:sp>
        <p:nvSpPr>
          <p:cNvPr id="18" name="!!tokE"/>
          <p:cNvSpPr/>
          <p:nvPr/>
        </p:nvSpPr>
        <p:spPr>
          <a:xfrm>
            <a:off x="459486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E: deadline 3, and slot 3 is free. E takes it.</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orb1"/>
          <p:cNvSpPr/>
          <p:nvPr/>
        </p:nvSpPr>
        <p:spPr>
          <a:xfrm>
            <a:off x="7315200" y="-1097280"/>
            <a:ext cx="2743200" cy="2743200"/>
          </a:xfrm>
          <a:prstGeom prst="ellipse">
            <a:avLst/>
          </a:prstGeom>
          <a:solidFill>
            <a:srgbClr val="F6F8FC"/>
          </a:solidFill>
          <a:ln w="38100">
            <a:solidFill>
              <a:srgbClr val="D0D7E8"/>
            </a:solidFill>
            <a:prstDash val="solid"/>
          </a:ln>
        </p:spPr>
      </p:sp>
      <p:sp>
        <p:nvSpPr>
          <p:cNvPr id="4" name="!!orb2"/>
          <p:cNvSpPr/>
          <p:nvPr/>
        </p:nvSpPr>
        <p:spPr>
          <a:xfrm>
            <a:off x="-91440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41248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Result: C, A, E earn $142</a:t>
            </a:r>
            <a:endParaRPr lang="en-US" sz="3400" dirty="0"/>
          </a:p>
        </p:txBody>
      </p:sp>
      <p:sp>
        <p:nvSpPr>
          <p:cNvPr id="7" name="!!lbl1"/>
          <p:cNvSpPr txBox="1"/>
          <p:nvPr/>
        </p:nvSpPr>
        <p:spPr>
          <a:xfrm>
            <a:off x="457200" y="1051560"/>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TOTAL PROFIT</a:t>
            </a:r>
            <a:endParaRPr lang="en-US" sz="1200" dirty="0"/>
          </a:p>
        </p:txBody>
      </p:sp>
      <p:sp>
        <p:nvSpPr>
          <p:cNvPr id="8" name="!!lbl2"/>
          <p:cNvSpPr txBox="1"/>
          <p:nvPr/>
        </p:nvSpPr>
        <p:spPr>
          <a:xfrm>
            <a:off x="457200" y="2359152"/>
            <a:ext cx="5486400" cy="274320"/>
          </a:xfrm>
          <a:prstGeom prst="rect">
            <a:avLst/>
          </a:prstGeom>
          <a:noFill/>
          <a:ln/>
        </p:spPr>
        <p:txBody>
          <a:bodyPr wrap="square" lIns="0" tIns="0" rIns="0" bIns="0" rtlCol="0" anchor="ctr"/>
          <a:lstStyle/>
          <a:p>
            <a:pPr indent="0" marL="0">
              <a:buNone/>
            </a:pPr>
            <a:r>
              <a:rPr lang="en-US" sz="1200" b="1" spc="200" kern="0" dirty="0">
                <a:solidFill>
                  <a:srgbClr val="5B6585"/>
                </a:solidFill>
              </a:rPr>
              <a:t>SCHEDULE: ONE JOB PER TIME SLOT</a:t>
            </a:r>
            <a:endParaRPr lang="en-US" sz="1200" dirty="0"/>
          </a:p>
        </p:txBody>
      </p:sp>
      <p:sp>
        <p:nvSpPr>
          <p:cNvPr id="9" name="!!lbl3"/>
          <p:cNvSpPr txBox="1"/>
          <p:nvPr/>
        </p:nvSpPr>
        <p:spPr>
          <a:xfrm>
            <a:off x="6492240" y="2359152"/>
            <a:ext cx="2194560" cy="274320"/>
          </a:xfrm>
          <a:prstGeom prst="rect">
            <a:avLst/>
          </a:prstGeom>
          <a:noFill/>
          <a:ln/>
        </p:spPr>
        <p:txBody>
          <a:bodyPr wrap="square" lIns="0" tIns="0" rIns="0" bIns="0" rtlCol="0" anchor="ctr"/>
          <a:lstStyle/>
          <a:p>
            <a:pPr indent="0" marL="0">
              <a:buNone/>
            </a:pPr>
            <a:r>
              <a:rPr lang="en-US" sz="1200" b="1" spc="200" kern="0" dirty="0">
                <a:solidFill>
                  <a:srgbClr val="D64545"/>
                </a:solidFill>
              </a:rPr>
              <a:t>REJECTED</a:t>
            </a:r>
            <a:endParaRPr lang="en-US" sz="1200" dirty="0"/>
          </a:p>
        </p:txBody>
      </p:sp>
      <p:sp>
        <p:nvSpPr>
          <p:cNvPr id="10" name="!!slot1"/>
          <p:cNvSpPr/>
          <p:nvPr/>
        </p:nvSpPr>
        <p:spPr>
          <a:xfrm>
            <a:off x="45720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1</a:t>
            </a:r>
            <a:endParaRPr lang="en-US" sz="1200" dirty="0"/>
          </a:p>
        </p:txBody>
      </p:sp>
      <p:sp>
        <p:nvSpPr>
          <p:cNvPr id="11" name="!!slot2"/>
          <p:cNvSpPr/>
          <p:nvPr/>
        </p:nvSpPr>
        <p:spPr>
          <a:xfrm>
            <a:off x="242316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2</a:t>
            </a:r>
            <a:endParaRPr lang="en-US" sz="1200" dirty="0"/>
          </a:p>
        </p:txBody>
      </p:sp>
      <p:sp>
        <p:nvSpPr>
          <p:cNvPr id="12" name="!!slot3"/>
          <p:cNvSpPr/>
          <p:nvPr/>
        </p:nvSpPr>
        <p:spPr>
          <a:xfrm>
            <a:off x="4389120" y="2697480"/>
            <a:ext cx="1783080" cy="1234440"/>
          </a:xfrm>
          <a:prstGeom prst="roundRect">
            <a:avLst>
              <a:gd name="adj" fmla="val 7407"/>
            </a:avLst>
          </a:prstGeom>
          <a:solidFill>
            <a:srgbClr val="FFFFFF"/>
          </a:solidFill>
          <a:ln w="15875">
            <a:solidFill>
              <a:srgbClr val="8A94B8"/>
            </a:solidFill>
            <a:prstDash val="dash"/>
          </a:ln>
        </p:spPr>
        <p:txBody>
          <a:bodyPr wrap="square" lIns="76200" tIns="127000" rIns="127000" bIns="0" rtlCol="0" anchor="t"/>
          <a:lstStyle/>
          <a:p>
            <a:pPr algn="l" indent="0" marL="0">
              <a:buNone/>
            </a:pPr>
            <a:r>
              <a:rPr lang="en-US" sz="1200" b="1" dirty="0">
                <a:solidFill>
                  <a:srgbClr val="5B6585"/>
                </a:solidFill>
              </a:rPr>
              <a:t>Slot 3</a:t>
            </a:r>
            <a:endParaRPr lang="en-US" sz="1200" dirty="0"/>
          </a:p>
        </p:txBody>
      </p:sp>
      <p:sp>
        <p:nvSpPr>
          <p:cNvPr id="13" name="!!tray"/>
          <p:cNvSpPr/>
          <p:nvPr/>
        </p:nvSpPr>
        <p:spPr>
          <a:xfrm>
            <a:off x="6492240" y="2697480"/>
            <a:ext cx="2194560" cy="1234440"/>
          </a:xfrm>
          <a:prstGeom prst="roundRect">
            <a:avLst>
              <a:gd name="adj" fmla="val 7407"/>
            </a:avLst>
          </a:prstGeom>
          <a:solidFill>
            <a:srgbClr val="FDF1EF"/>
          </a:solidFill>
          <a:ln w="15875">
            <a:solidFill>
              <a:srgbClr val="D64545"/>
            </a:solidFill>
            <a:prstDash val="dash"/>
          </a:ln>
        </p:spPr>
      </p:sp>
      <p:sp>
        <p:nvSpPr>
          <p:cNvPr id="14" name="!!tokA"/>
          <p:cNvSpPr/>
          <p:nvPr/>
        </p:nvSpPr>
        <p:spPr>
          <a:xfrm>
            <a:off x="262890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A</a:t>
            </a:r>
            <a:endParaRPr lang="en-US" sz="2000" dirty="0"/>
          </a:p>
          <a:p>
            <a:pPr algn="ctr" indent="0" marL="0">
              <a:buNone/>
            </a:pPr>
            <a:r>
              <a:rPr lang="en-US" sz="1100" dirty="0">
                <a:solidFill>
                  <a:srgbClr val="0E1736"/>
                </a:solidFill>
              </a:rPr>
              <a:t>$100 · d=2</a:t>
            </a:r>
            <a:endParaRPr lang="en-US" sz="2000" dirty="0"/>
          </a:p>
        </p:txBody>
      </p:sp>
      <p:sp>
        <p:nvSpPr>
          <p:cNvPr id="15" name="!!tokC"/>
          <p:cNvSpPr/>
          <p:nvPr/>
        </p:nvSpPr>
        <p:spPr>
          <a:xfrm>
            <a:off x="66294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C</a:t>
            </a:r>
            <a:endParaRPr lang="en-US" sz="2000" dirty="0"/>
          </a:p>
          <a:p>
            <a:pPr algn="ctr" indent="0" marL="0">
              <a:buNone/>
            </a:pPr>
            <a:r>
              <a:rPr lang="en-US" sz="1100" dirty="0">
                <a:solidFill>
                  <a:srgbClr val="0E1736"/>
                </a:solidFill>
              </a:rPr>
              <a:t>$27 · d=2</a:t>
            </a:r>
            <a:endParaRPr lang="en-US" sz="2000" dirty="0"/>
          </a:p>
        </p:txBody>
      </p:sp>
      <p:sp>
        <p:nvSpPr>
          <p:cNvPr id="16" name="!!tokD"/>
          <p:cNvSpPr/>
          <p:nvPr/>
        </p:nvSpPr>
        <p:spPr>
          <a:xfrm>
            <a:off x="662940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D</a:t>
            </a:r>
            <a:endParaRPr lang="en-US" sz="2000" dirty="0"/>
          </a:p>
          <a:p>
            <a:pPr algn="ctr" indent="0" marL="0">
              <a:buNone/>
            </a:pPr>
            <a:r>
              <a:rPr lang="en-US" sz="1100" dirty="0">
                <a:solidFill>
                  <a:srgbClr val="8C1D18"/>
                </a:solidFill>
              </a:rPr>
              <a:t>$25 · d=1</a:t>
            </a:r>
            <a:endParaRPr lang="en-US" sz="2000" dirty="0"/>
          </a:p>
        </p:txBody>
      </p:sp>
      <p:sp>
        <p:nvSpPr>
          <p:cNvPr id="17" name="!!tokB"/>
          <p:cNvSpPr/>
          <p:nvPr/>
        </p:nvSpPr>
        <p:spPr>
          <a:xfrm>
            <a:off x="7680960" y="3108960"/>
            <a:ext cx="960120" cy="731520"/>
          </a:xfrm>
          <a:prstGeom prst="roundRect">
            <a:avLst>
              <a:gd name="adj" fmla="val 12500"/>
            </a:avLst>
          </a:prstGeom>
          <a:solidFill>
            <a:srgbClr val="F7C9C4"/>
          </a:solidFill>
          <a:ln w="12700">
            <a:solidFill>
              <a:srgbClr val="D64545"/>
            </a:solidFill>
          </a:ln>
        </p:spPr>
        <p:txBody>
          <a:bodyPr wrap="square" lIns="0" tIns="0" rIns="0" bIns="0" rtlCol="0" anchor="ctr"/>
          <a:lstStyle/>
          <a:p>
            <a:pPr algn="ctr" indent="0" marL="0">
              <a:buNone/>
            </a:pPr>
            <a:r>
              <a:rPr lang="en-US" sz="2000" b="1" dirty="0">
                <a:solidFill>
                  <a:srgbClr val="8C1D18"/>
                </a:solidFill>
              </a:rPr>
              <a:t>B</a:t>
            </a:r>
            <a:endParaRPr lang="en-US" sz="2000" dirty="0"/>
          </a:p>
          <a:p>
            <a:pPr algn="ctr" indent="0" marL="0">
              <a:buNone/>
            </a:pPr>
            <a:r>
              <a:rPr lang="en-US" sz="1100" dirty="0">
                <a:solidFill>
                  <a:srgbClr val="8C1D18"/>
                </a:solidFill>
              </a:rPr>
              <a:t>$19 · d=1</a:t>
            </a:r>
            <a:endParaRPr lang="en-US" sz="2000" dirty="0"/>
          </a:p>
        </p:txBody>
      </p:sp>
      <p:sp>
        <p:nvSpPr>
          <p:cNvPr id="18" name="!!tokE"/>
          <p:cNvSpPr/>
          <p:nvPr/>
        </p:nvSpPr>
        <p:spPr>
          <a:xfrm>
            <a:off x="4594860" y="3017520"/>
            <a:ext cx="1371600" cy="868680"/>
          </a:xfrm>
          <a:prstGeom prst="roundRect">
            <a:avLst>
              <a:gd name="adj" fmla="val 10526"/>
            </a:avLst>
          </a:prstGeom>
          <a:solidFill>
            <a:srgbClr val="F28C28"/>
          </a:solidFill>
          <a:ln w="12700">
            <a:solidFill>
              <a:srgbClr val="0E1736"/>
            </a:solidFill>
          </a:ln>
        </p:spPr>
        <p:txBody>
          <a:bodyPr wrap="square" lIns="0" tIns="0" rIns="0" bIns="0" rtlCol="0" anchor="ctr"/>
          <a:lstStyle/>
          <a:p>
            <a:pPr algn="ctr" indent="0" marL="0">
              <a:buNone/>
            </a:pPr>
            <a:r>
              <a:rPr lang="en-US" sz="2000" b="1" dirty="0">
                <a:solidFill>
                  <a:srgbClr val="0E1736"/>
                </a:solidFill>
              </a:rPr>
              <a:t>E</a:t>
            </a:r>
            <a:endParaRPr lang="en-US" sz="2000" dirty="0"/>
          </a:p>
          <a:p>
            <a:pPr algn="ctr" indent="0" marL="0">
              <a:buNone/>
            </a:pPr>
            <a:r>
              <a:rPr lang="en-US" sz="1100" dirty="0">
                <a:solidFill>
                  <a:srgbClr val="0E1736"/>
                </a:solidFill>
              </a:rPr>
              <a:t>$15 · d=3</a:t>
            </a:r>
            <a:endParaRPr lang="en-US" sz="2000" dirty="0"/>
          </a:p>
        </p:txBody>
      </p:sp>
      <p:sp>
        <p:nvSpPr>
          <p:cNvPr id="19" name="!!big"/>
          <p:cNvSpPr txBox="1"/>
          <p:nvPr/>
        </p:nvSpPr>
        <p:spPr>
          <a:xfrm>
            <a:off x="457200" y="1280160"/>
            <a:ext cx="2377440" cy="914400"/>
          </a:xfrm>
          <a:prstGeom prst="rect">
            <a:avLst/>
          </a:prstGeom>
          <a:noFill/>
          <a:ln/>
        </p:spPr>
        <p:txBody>
          <a:bodyPr wrap="square" lIns="0" tIns="0" rIns="0" bIns="0" rtlCol="0" anchor="ctr"/>
          <a:lstStyle/>
          <a:p>
            <a:pPr indent="0" marL="0">
              <a:buNone/>
            </a:pPr>
            <a:r>
              <a:rPr lang="en-US" sz="5400" b="1" dirty="0">
                <a:solidFill>
                  <a:srgbClr val="F28C28"/>
                </a:solidFill>
                <a:latin typeface="Cambria" pitchFamily="34" charset="0"/>
                <a:ea typeface="Cambria" pitchFamily="34" charset="-122"/>
                <a:cs typeface="Cambria" pitchFamily="34" charset="-120"/>
              </a:rPr>
              <a:t>$142</a:t>
            </a:r>
            <a:endParaRPr lang="en-US" sz="5400" dirty="0"/>
          </a:p>
        </p:txBody>
      </p:sp>
      <p:sp>
        <p:nvSpPr>
          <p:cNvPr id="20" name="!!bigNote"/>
          <p:cNvSpPr txBox="1"/>
          <p:nvPr/>
        </p:nvSpPr>
        <p:spPr>
          <a:xfrm>
            <a:off x="2926080" y="1280160"/>
            <a:ext cx="3291840" cy="914400"/>
          </a:xfrm>
          <a:prstGeom prst="rect">
            <a:avLst/>
          </a:prstGeom>
          <a:noFill/>
          <a:ln/>
        </p:spPr>
        <p:txBody>
          <a:bodyPr wrap="square" lIns="0" tIns="0" rIns="0" bIns="0" rtlCol="0" anchor="ctr"/>
          <a:lstStyle/>
          <a:p>
            <a:pPr indent="0" marL="0">
              <a:buNone/>
            </a:pPr>
            <a:r>
              <a:rPr lang="en-US" sz="2200" dirty="0">
                <a:solidFill>
                  <a:srgbClr val="0E1736"/>
                </a:solidFill>
              </a:rPr>
              <a:t>= 27 + 100 + 15</a:t>
            </a:r>
            <a:endParaRPr lang="en-US" sz="2200" dirty="0"/>
          </a:p>
        </p:txBody>
      </p:sp>
      <p:sp>
        <p:nvSpPr>
          <p:cNvPr id="21" name="!!note"/>
          <p:cNvSpPr/>
          <p:nvPr/>
        </p:nvSpPr>
        <p:spPr>
          <a:xfrm>
            <a:off x="457200" y="4224528"/>
            <a:ext cx="8229600" cy="566928"/>
          </a:xfrm>
          <a:prstGeom prst="roundRect">
            <a:avLst>
              <a:gd name="adj" fmla="val 16129"/>
            </a:avLst>
          </a:prstGeom>
          <a:solidFill>
            <a:srgbClr val="FFF1C2"/>
          </a:solidFill>
          <a:ln w="12700">
            <a:solidFill>
              <a:srgbClr val="F0D27A"/>
            </a:solidFill>
          </a:ln>
        </p:spPr>
        <p:txBody>
          <a:bodyPr wrap="square" lIns="50800" tIns="177800" rIns="177800" bIns="50800" rtlCol="0" anchor="ctr"/>
          <a:lstStyle/>
          <a:p>
            <a:pPr algn="l" indent="0" marL="0">
              <a:buNone/>
            </a:pPr>
            <a:r>
              <a:rPr lang="en-US" sz="1400" dirty="0">
                <a:solidFill>
                  <a:srgbClr val="0E1736"/>
                </a:solidFill>
              </a:rPr>
              <a:t>Jobs C, A and E all finish on time. D and B are skipped. Total profit: $142.</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orb1"/>
          <p:cNvSpPr/>
          <p:nvPr/>
        </p:nvSpPr>
        <p:spPr>
          <a:xfrm>
            <a:off x="7132320" y="-1371600"/>
            <a:ext cx="2926080" cy="2926080"/>
          </a:xfrm>
          <a:prstGeom prst="ellipse">
            <a:avLst/>
          </a:prstGeom>
          <a:solidFill>
            <a:srgbClr val="F6F8FC"/>
          </a:solidFill>
          <a:ln w="38100">
            <a:solidFill>
              <a:srgbClr val="D0D7E8"/>
            </a:solidFill>
            <a:prstDash val="solid"/>
          </a:ln>
        </p:spPr>
      </p:sp>
      <p:sp>
        <p:nvSpPr>
          <p:cNvPr id="4" name="!!orb2"/>
          <p:cNvSpPr/>
          <p:nvPr/>
        </p:nvSpPr>
        <p:spPr>
          <a:xfrm>
            <a:off x="-914400" y="4709160"/>
            <a:ext cx="1463040" cy="1463040"/>
          </a:xfrm>
          <a:prstGeom prst="ellipse">
            <a:avLst/>
          </a:prstGeom>
          <a:solidFill>
            <a:srgbClr val="F28C28">
              <a:alpha val="18000"/>
            </a:srgbClr>
          </a:solidFill>
          <a:ln w="3175">
            <a:solidFill>
              <a:srgbClr val="F28C28"/>
            </a:solidFill>
            <a:prstDash val="solid"/>
          </a:ln>
        </p:spPr>
      </p:sp>
      <p:sp>
        <p:nvSpPr>
          <p:cNvPr id="5" name="!!orb3"/>
          <p:cNvSpPr/>
          <p:nvPr/>
        </p:nvSpPr>
        <p:spPr>
          <a:xfrm>
            <a:off x="8503920" y="182880"/>
            <a:ext cx="640080" cy="64008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Simple vs fast scheduling</a:t>
            </a:r>
            <a:endParaRPr lang="en-US" sz="3400" dirty="0"/>
          </a:p>
        </p:txBody>
      </p:sp>
      <p:sp>
        <p:nvSpPr>
          <p:cNvPr id="7" name="!!card1"/>
          <p:cNvSpPr/>
          <p:nvPr/>
        </p:nvSpPr>
        <p:spPr>
          <a:xfrm>
            <a:off x="457200" y="1280160"/>
            <a:ext cx="3977640" cy="2286000"/>
          </a:xfrm>
          <a:prstGeom prst="roundRect">
            <a:avLst>
              <a:gd name="adj" fmla="val 4800"/>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5B6585"/>
                </a:solidFill>
                <a:latin typeface="Calibri" pitchFamily="34" charset="0"/>
                <a:ea typeface="Calibri" pitchFamily="34" charset="-122"/>
                <a:cs typeface="Calibri" pitchFamily="34" charset="-120"/>
              </a:rPr>
              <a:t>Simple</a:t>
            </a:r>
            <a:endParaRPr lang="en-US" sz="1600" dirty="0"/>
          </a:p>
          <a:p>
            <a:pPr algn="l" indent="0" marL="0">
              <a:buNone/>
            </a:pPr>
            <a:r>
              <a:rPr lang="en-US" sz="4000" b="1" dirty="0">
                <a:solidFill>
                  <a:srgbClr val="D64545"/>
                </a:solidFill>
                <a:latin typeface="Cambria" pitchFamily="34" charset="0"/>
                <a:ea typeface="Cambria" pitchFamily="34" charset="-122"/>
                <a:cs typeface="Cambria" pitchFamily="34" charset="-120"/>
              </a:rPr>
              <a:t>O(n²)</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For each job, scan back from its deadline until a free slot appears.</a:t>
            </a:r>
            <a:endParaRPr lang="en-US" sz="1600" dirty="0"/>
          </a:p>
        </p:txBody>
      </p:sp>
      <p:sp>
        <p:nvSpPr>
          <p:cNvPr id="8" name="!!card2"/>
          <p:cNvSpPr/>
          <p:nvPr/>
        </p:nvSpPr>
        <p:spPr>
          <a:xfrm>
            <a:off x="4709160" y="1280160"/>
            <a:ext cx="3977640" cy="2286000"/>
          </a:xfrm>
          <a:prstGeom prst="roundRect">
            <a:avLst>
              <a:gd name="adj" fmla="val 4800"/>
            </a:avLst>
          </a:prstGeom>
          <a:solidFill>
            <a:srgbClr val="FFFFFF"/>
          </a:solidFill>
          <a:ln w="15875">
            <a:solidFill>
              <a:srgbClr val="D0D7E8"/>
            </a:solidFill>
          </a:ln>
        </p:spPr>
        <p:txBody>
          <a:bodyPr wrap="square" lIns="127000" tIns="177800" rIns="177800" bIns="127000" rtlCol="0" anchor="t"/>
          <a:lstStyle/>
          <a:p>
            <a:pPr algn="l" indent="0" marL="0">
              <a:buNone/>
            </a:pPr>
            <a:r>
              <a:rPr lang="en-US" sz="2000" b="1" dirty="0">
                <a:solidFill>
                  <a:srgbClr val="5B6585"/>
                </a:solidFill>
                <a:latin typeface="Calibri" pitchFamily="34" charset="0"/>
                <a:ea typeface="Calibri" pitchFamily="34" charset="-122"/>
                <a:cs typeface="Calibri" pitchFamily="34" charset="-120"/>
              </a:rPr>
              <a:t>Fast</a:t>
            </a:r>
            <a:endParaRPr lang="en-US" sz="1600" dirty="0"/>
          </a:p>
          <a:p>
            <a:pPr algn="l" indent="0" marL="0">
              <a:buNone/>
            </a:pPr>
            <a:r>
              <a:rPr lang="en-US" sz="4000" b="1" dirty="0">
                <a:solidFill>
                  <a:srgbClr val="2E9E6B"/>
                </a:solidFill>
                <a:latin typeface="Cambria" pitchFamily="34" charset="0"/>
                <a:ea typeface="Cambria" pitchFamily="34" charset="-122"/>
                <a:cs typeface="Cambria" pitchFamily="34" charset="-120"/>
              </a:rPr>
              <a:t>O(n log n)</a:t>
            </a:r>
            <a:endParaRPr lang="en-US" sz="1600" dirty="0"/>
          </a:p>
          <a:p>
            <a:pPr algn="l" indent="0" marL="0">
              <a:buNone/>
            </a:pPr>
            <a:r>
              <a:rPr lang="en-US" sz="1600" dirty="0">
                <a:solidFill>
                  <a:srgbClr val="0E1736"/>
                </a:solidFill>
                <a:latin typeface="Calibri" pitchFamily="34" charset="0"/>
                <a:ea typeface="Calibri" pitchFamily="34" charset="-122"/>
                <a:cs typeface="Calibri" pitchFamily="34" charset="-120"/>
              </a:rPr>
              <a:t>A disjoint-set structure jumps straight to the latest free slot. Sorting dominates.</a:t>
            </a:r>
            <a:endParaRPr lang="en-US" sz="1600" dirty="0"/>
          </a:p>
        </p:txBody>
      </p:sp>
      <p:sp>
        <p:nvSpPr>
          <p:cNvPr id="9" name="!!card3"/>
          <p:cNvSpPr/>
          <p:nvPr/>
        </p:nvSpPr>
        <p:spPr>
          <a:xfrm>
            <a:off x="457200" y="3840480"/>
            <a:ext cx="8229600" cy="685800"/>
          </a:xfrm>
          <a:prstGeom prst="roundRect">
            <a:avLst>
              <a:gd name="adj" fmla="val 16000"/>
            </a:avLst>
          </a:prstGeom>
          <a:solidFill>
            <a:srgbClr val="FFF1C2"/>
          </a:solidFill>
          <a:ln w="15875">
            <a:solidFill>
              <a:srgbClr val="F0D27A"/>
            </a:solidFill>
          </a:ln>
        </p:spPr>
        <p:txBody>
          <a:bodyPr wrap="square" lIns="127000" tIns="177800" rIns="177800" bIns="127000" rtlCol="0" anchor="ctr"/>
          <a:lstStyle/>
          <a:p>
            <a:pPr algn="l" indent="0" marL="0">
              <a:buNone/>
            </a:pPr>
            <a:r>
              <a:rPr lang="en-US" sz="1600" b="1" dirty="0">
                <a:solidFill>
                  <a:srgbClr val="0E1736"/>
                </a:solidFill>
                <a:latin typeface="Calibri" pitchFamily="34" charset="0"/>
                <a:ea typeface="Calibri" pitchFamily="34" charset="-122"/>
                <a:cs typeface="Calibri" pitchFamily="34" charset="-120"/>
              </a:rPr>
              <a:t>Same answer either way. The fast version simply wastes far less work as n grows.</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orb1"/>
          <p:cNvSpPr/>
          <p:nvPr/>
        </p:nvSpPr>
        <p:spPr>
          <a:xfrm>
            <a:off x="-1371600" y="-1188720"/>
            <a:ext cx="2926080" cy="2926080"/>
          </a:xfrm>
          <a:prstGeom prst="ellipse">
            <a:avLst/>
          </a:prstGeom>
          <a:solidFill>
            <a:srgbClr val="F6F8FC"/>
          </a:solidFill>
          <a:ln w="38100">
            <a:solidFill>
              <a:srgbClr val="D0D7E8"/>
            </a:solidFill>
            <a:prstDash val="solid"/>
          </a:ln>
        </p:spPr>
      </p:sp>
      <p:sp>
        <p:nvSpPr>
          <p:cNvPr id="4" name="!!orb2"/>
          <p:cNvSpPr/>
          <p:nvPr/>
        </p:nvSpPr>
        <p:spPr>
          <a:xfrm>
            <a:off x="7955280" y="3931920"/>
            <a:ext cx="1371600" cy="1371600"/>
          </a:xfrm>
          <a:prstGeom prst="ellipse">
            <a:avLst/>
          </a:prstGeom>
          <a:solidFill>
            <a:srgbClr val="F28C28">
              <a:alpha val="18000"/>
            </a:srgbClr>
          </a:solidFill>
          <a:ln w="3175">
            <a:solidFill>
              <a:srgbClr val="F28C28"/>
            </a:solidFill>
            <a:prstDash val="solid"/>
          </a:ln>
        </p:spPr>
      </p:sp>
      <p:sp>
        <p:nvSpPr>
          <p:cNvPr id="5" name="!!orb3"/>
          <p:cNvSpPr/>
          <p:nvPr/>
        </p:nvSpPr>
        <p:spPr>
          <a:xfrm>
            <a:off x="182880" y="4389120"/>
            <a:ext cx="731520" cy="731520"/>
          </a:xfrm>
          <a:prstGeom prst="ellipse">
            <a:avLst/>
          </a:prstGeom>
          <a:solidFill>
            <a:srgbClr val="0E1736">
              <a:alpha val="8000"/>
            </a:srgbClr>
          </a:solidFill>
          <a:ln w="3175">
            <a:solidFill>
              <a:srgbClr val="0E173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0E1736"/>
                </a:solidFill>
                <a:latin typeface="Cambria" pitchFamily="34" charset="0"/>
                <a:ea typeface="Cambria" pitchFamily="34" charset="-122"/>
                <a:cs typeface="Cambria" pitchFamily="34" charset="-120"/>
              </a:rPr>
              <a:t>Greedy beyond job sequencing</a:t>
            </a:r>
            <a:endParaRPr lang="en-US" sz="3400" dirty="0"/>
          </a:p>
        </p:txBody>
      </p:sp>
      <p:sp>
        <p:nvSpPr>
          <p:cNvPr id="7" name="!!card1"/>
          <p:cNvSpPr/>
          <p:nvPr/>
        </p:nvSpPr>
        <p:spPr>
          <a:xfrm>
            <a:off x="457200" y="1280160"/>
            <a:ext cx="397764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1900" b="1" dirty="0">
                <a:solidFill>
                  <a:srgbClr val="F28C28"/>
                </a:solidFill>
                <a:latin typeface="Calibri" pitchFamily="34" charset="0"/>
                <a:ea typeface="Calibri" pitchFamily="34" charset="-122"/>
                <a:cs typeface="Calibri" pitchFamily="34" charset="-120"/>
              </a:rPr>
              <a:t>Capital planning</a:t>
            </a:r>
            <a:endParaRPr lang="en-US" sz="1600" dirty="0"/>
          </a:p>
          <a:p>
            <a:pPr algn="l" indent="0" marL="0">
              <a:buNone/>
            </a:pPr>
            <a:r>
              <a:rPr lang="en-US" sz="1500" dirty="0">
                <a:solidFill>
                  <a:srgbClr val="0E1736"/>
                </a:solidFill>
                <a:latin typeface="Calibri" pitchFamily="34" charset="0"/>
                <a:ea typeface="Calibri" pitchFamily="34" charset="-122"/>
                <a:cs typeface="Calibri" pitchFamily="34" charset="-120"/>
              </a:rPr>
              <a:t>Choosing projects, allocations and bids often yields to greedy.</a:t>
            </a:r>
            <a:endParaRPr lang="en-US" sz="1600" dirty="0"/>
          </a:p>
        </p:txBody>
      </p:sp>
      <p:sp>
        <p:nvSpPr>
          <p:cNvPr id="8" name="!!card2"/>
          <p:cNvSpPr/>
          <p:nvPr/>
        </p:nvSpPr>
        <p:spPr>
          <a:xfrm>
            <a:off x="4709160" y="1280160"/>
            <a:ext cx="397764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1900" b="1" dirty="0">
                <a:solidFill>
                  <a:srgbClr val="F28C28"/>
                </a:solidFill>
                <a:latin typeface="Calibri" pitchFamily="34" charset="0"/>
                <a:ea typeface="Calibri" pitchFamily="34" charset="-122"/>
                <a:cs typeface="Calibri" pitchFamily="34" charset="-120"/>
              </a:rPr>
              <a:t>Spanning trees &amp; shortest paths</a:t>
            </a:r>
            <a:endParaRPr lang="en-US" sz="1600" dirty="0"/>
          </a:p>
          <a:p>
            <a:pPr algn="l" indent="0" marL="0">
              <a:buNone/>
            </a:pPr>
            <a:r>
              <a:rPr lang="en-US" sz="1500" dirty="0">
                <a:solidFill>
                  <a:srgbClr val="0E1736"/>
                </a:solidFill>
                <a:latin typeface="Calibri" pitchFamily="34" charset="0"/>
                <a:ea typeface="Calibri" pitchFamily="34" charset="-122"/>
                <a:cs typeface="Calibri" pitchFamily="34" charset="-120"/>
              </a:rPr>
              <a:t>Classic greedy graph algorithms, up next.</a:t>
            </a:r>
            <a:endParaRPr lang="en-US" sz="1600" dirty="0"/>
          </a:p>
        </p:txBody>
      </p:sp>
      <p:sp>
        <p:nvSpPr>
          <p:cNvPr id="9" name="!!card3"/>
          <p:cNvSpPr/>
          <p:nvPr/>
        </p:nvSpPr>
        <p:spPr>
          <a:xfrm>
            <a:off x="457200" y="2926080"/>
            <a:ext cx="397764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1900" b="1" dirty="0">
                <a:solidFill>
                  <a:srgbClr val="F28C28"/>
                </a:solidFill>
                <a:latin typeface="Calibri" pitchFamily="34" charset="0"/>
                <a:ea typeface="Calibri" pitchFamily="34" charset="-122"/>
                <a:cs typeface="Calibri" pitchFamily="34" charset="-120"/>
              </a:rPr>
              <a:t>Other job scheduling</a:t>
            </a:r>
            <a:endParaRPr lang="en-US" sz="1600" dirty="0"/>
          </a:p>
          <a:p>
            <a:pPr algn="l" indent="0" marL="0">
              <a:buNone/>
            </a:pPr>
            <a:r>
              <a:rPr lang="en-US" sz="1500" dirty="0">
                <a:solidFill>
                  <a:srgbClr val="0E1736"/>
                </a:solidFill>
                <a:latin typeface="Calibri" pitchFamily="34" charset="0"/>
                <a:ea typeface="Calibri" pitchFamily="34" charset="-122"/>
                <a:cs typeface="Calibri" pitchFamily="34" charset="-120"/>
              </a:rPr>
              <a:t>Variants such as minimum-time schedules.</a:t>
            </a:r>
            <a:endParaRPr lang="en-US" sz="1600" dirty="0"/>
          </a:p>
        </p:txBody>
      </p:sp>
      <p:sp>
        <p:nvSpPr>
          <p:cNvPr id="10" name="!!card4"/>
          <p:cNvSpPr/>
          <p:nvPr/>
        </p:nvSpPr>
        <p:spPr>
          <a:xfrm>
            <a:off x="4709160" y="2926080"/>
            <a:ext cx="3977640" cy="1417320"/>
          </a:xfrm>
          <a:prstGeom prst="roundRect">
            <a:avLst>
              <a:gd name="adj" fmla="val 7742"/>
            </a:avLst>
          </a:prstGeom>
          <a:solidFill>
            <a:srgbClr val="FFFFFF"/>
          </a:solidFill>
          <a:ln w="15875">
            <a:solidFill>
              <a:srgbClr val="D0D7E8"/>
            </a:solidFill>
          </a:ln>
        </p:spPr>
        <p:txBody>
          <a:bodyPr wrap="square" lIns="127000" tIns="177800" rIns="177800" bIns="127000" rtlCol="0" anchor="t"/>
          <a:lstStyle/>
          <a:p>
            <a:pPr algn="l" indent="0" marL="0">
              <a:buNone/>
            </a:pPr>
            <a:r>
              <a:rPr lang="en-US" sz="1900" b="1" dirty="0">
                <a:solidFill>
                  <a:srgbClr val="F28C28"/>
                </a:solidFill>
                <a:latin typeface="Calibri" pitchFamily="34" charset="0"/>
                <a:ea typeface="Calibri" pitchFamily="34" charset="-122"/>
                <a:cs typeface="Calibri" pitchFamily="34" charset="-120"/>
              </a:rPr>
              <a:t>Heuristics</a:t>
            </a:r>
            <a:endParaRPr lang="en-US" sz="1600" dirty="0"/>
          </a:p>
          <a:p>
            <a:pPr algn="l" indent="0" marL="0">
              <a:buNone/>
            </a:pPr>
            <a:r>
              <a:rPr lang="en-US" sz="1500" dirty="0">
                <a:solidFill>
                  <a:srgbClr val="0E1736"/>
                </a:solidFill>
                <a:latin typeface="Calibri" pitchFamily="34" charset="0"/>
                <a:ea typeface="Calibri" pitchFamily="34" charset="-122"/>
                <a:cs typeface="Calibri" pitchFamily="34" charset="-120"/>
              </a:rPr>
              <a:t>Graph colouring and travelling salesperson (2-opt, 3-opt).</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B8"/>
                </a:solidFill>
              </a:defRPr>
            </a:lvl1pPr>
          </a:lstStyle>
          <a:p>
            <a:pPr algn="l"/>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orb1"/>
          <p:cNvSpPr/>
          <p:nvPr/>
        </p:nvSpPr>
        <p:spPr>
          <a:xfrm>
            <a:off x="7223760" y="3017520"/>
            <a:ext cx="2560320" cy="2560320"/>
          </a:xfrm>
          <a:prstGeom prst="ellipse">
            <a:avLst/>
          </a:prstGeom>
          <a:solidFill>
            <a:srgbClr val="1B2A5C"/>
          </a:solidFill>
          <a:ln w="50800">
            <a:solidFill>
              <a:srgbClr val="F28C28"/>
            </a:solidFill>
            <a:prstDash val="solid"/>
          </a:ln>
        </p:spPr>
      </p:sp>
      <p:sp>
        <p:nvSpPr>
          <p:cNvPr id="4" name="!!orb2"/>
          <p:cNvSpPr/>
          <p:nvPr/>
        </p:nvSpPr>
        <p:spPr>
          <a:xfrm>
            <a:off x="8138160" y="274320"/>
            <a:ext cx="548640" cy="548640"/>
          </a:xfrm>
          <a:prstGeom prst="ellipse">
            <a:avLst/>
          </a:prstGeom>
          <a:solidFill>
            <a:srgbClr val="F28C28"/>
          </a:solidFill>
          <a:ln w="3175">
            <a:solidFill>
              <a:srgbClr val="F28C28"/>
            </a:solidFill>
            <a:prstDash val="solid"/>
          </a:ln>
        </p:spPr>
      </p:sp>
      <p:sp>
        <p:nvSpPr>
          <p:cNvPr id="5" name="!!orb3"/>
          <p:cNvSpPr/>
          <p:nvPr/>
        </p:nvSpPr>
        <p:spPr>
          <a:xfrm>
            <a:off x="8138160" y="2194560"/>
            <a:ext cx="365760" cy="365760"/>
          </a:xfrm>
          <a:prstGeom prst="ellipse">
            <a:avLst/>
          </a:prstGeom>
          <a:solidFill>
            <a:srgbClr val="FFD966"/>
          </a:solidFill>
          <a:ln w="3175">
            <a:solidFill>
              <a:srgbClr val="FFD966"/>
            </a:solidFill>
            <a:prstDash val="solid"/>
          </a:ln>
        </p:spPr>
      </p:sp>
      <p:sp>
        <p:nvSpPr>
          <p:cNvPr id="6" name="!!title"/>
          <p:cNvSpPr txBox="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What we learned</a:t>
            </a:r>
            <a:endParaRPr lang="en-US" sz="3400" dirty="0"/>
          </a:p>
        </p:txBody>
      </p:sp>
      <p:sp>
        <p:nvSpPr>
          <p:cNvPr id="7" name="!!card1"/>
          <p:cNvSpPr/>
          <p:nvPr/>
        </p:nvSpPr>
        <p:spPr>
          <a:xfrm>
            <a:off x="457200" y="1188720"/>
            <a:ext cx="6309360" cy="731520"/>
          </a:xfrm>
          <a:prstGeom prst="roundRect">
            <a:avLst>
              <a:gd name="adj" fmla="val 15000"/>
            </a:avLst>
          </a:prstGeom>
          <a:solidFill>
            <a:srgbClr val="1B2A5C"/>
          </a:solidFill>
          <a:ln w="15875">
            <a:solidFill>
              <a:srgbClr val="3D4F8A"/>
            </a:solidFill>
          </a:ln>
        </p:spPr>
        <p:txBody>
          <a:bodyPr wrap="square" lIns="127000" tIns="177800" rIns="177800" bIns="12700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Sort by profit, place each job in the latest free slot before its deadline.</a:t>
            </a:r>
            <a:endParaRPr lang="en-US" sz="1600" dirty="0"/>
          </a:p>
        </p:txBody>
      </p:sp>
      <p:sp>
        <p:nvSpPr>
          <p:cNvPr id="8" name="!!card2"/>
          <p:cNvSpPr/>
          <p:nvPr/>
        </p:nvSpPr>
        <p:spPr>
          <a:xfrm>
            <a:off x="457200" y="2057400"/>
            <a:ext cx="6309360" cy="731520"/>
          </a:xfrm>
          <a:prstGeom prst="roundRect">
            <a:avLst>
              <a:gd name="adj" fmla="val 15000"/>
            </a:avLst>
          </a:prstGeom>
          <a:solidFill>
            <a:srgbClr val="1B2A5C"/>
          </a:solidFill>
          <a:ln w="15875">
            <a:solidFill>
              <a:srgbClr val="3D4F8A"/>
            </a:solidFill>
          </a:ln>
        </p:spPr>
        <p:txBody>
          <a:bodyPr wrap="square" lIns="127000" tIns="177800" rIns="177800" bIns="12700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 disjoint-set makes it fast: O(n log n) instead of O(n²).</a:t>
            </a:r>
            <a:endParaRPr lang="en-US" sz="1600" dirty="0"/>
          </a:p>
        </p:txBody>
      </p:sp>
      <p:sp>
        <p:nvSpPr>
          <p:cNvPr id="9" name="!!card3"/>
          <p:cNvSpPr/>
          <p:nvPr/>
        </p:nvSpPr>
        <p:spPr>
          <a:xfrm>
            <a:off x="457200" y="2926080"/>
            <a:ext cx="6309360" cy="731520"/>
          </a:xfrm>
          <a:prstGeom prst="roundRect">
            <a:avLst>
              <a:gd name="adj" fmla="val 15000"/>
            </a:avLst>
          </a:prstGeom>
          <a:solidFill>
            <a:srgbClr val="1B2A5C"/>
          </a:solidFill>
          <a:ln w="15875">
            <a:solidFill>
              <a:srgbClr val="3D4F8A"/>
            </a:solidFill>
          </a:ln>
        </p:spPr>
        <p:txBody>
          <a:bodyPr wrap="square" lIns="127000" tIns="177800" rIns="177800" bIns="12700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Greedy algorithms are fast and simple. Use them alone or as approximations.</a:t>
            </a:r>
            <a:endParaRPr lang="en-US" sz="1600" dirty="0"/>
          </a:p>
        </p:txBody>
      </p:sp>
      <p:sp>
        <p:nvSpPr>
          <p:cNvPr id="10" name="!!card4"/>
          <p:cNvSpPr/>
          <p:nvPr/>
        </p:nvSpPr>
        <p:spPr>
          <a:xfrm>
            <a:off x="457200" y="3794760"/>
            <a:ext cx="6309360" cy="731520"/>
          </a:xfrm>
          <a:prstGeom prst="roundRect">
            <a:avLst>
              <a:gd name="adj" fmla="val 15000"/>
            </a:avLst>
          </a:prstGeom>
          <a:solidFill>
            <a:srgbClr val="F28C28"/>
          </a:solidFill>
          <a:ln w="15875">
            <a:solidFill>
              <a:srgbClr val="F28C28"/>
            </a:solidFill>
          </a:ln>
        </p:spPr>
        <p:txBody>
          <a:bodyPr wrap="square" lIns="127000" tIns="177800" rIns="177800" bIns="127000" rtlCol="0" anchor="ctr"/>
          <a:lstStyle/>
          <a:p>
            <a:pPr algn="l" indent="0" marL="0">
              <a:buNone/>
            </a:pPr>
            <a:r>
              <a:rPr lang="en-US" sz="1600" b="1" dirty="0">
                <a:solidFill>
                  <a:srgbClr val="0E1736"/>
                </a:solidFill>
                <a:latin typeface="Calibri" pitchFamily="34" charset="0"/>
                <a:ea typeface="Calibri" pitchFamily="34" charset="-122"/>
                <a:cs typeface="Calibri" pitchFamily="34" charset="-120"/>
              </a:rPr>
              <a:t>Next: what if jobs take different times? Dynamic programming can help.</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400">
        <p159:morph option="byObject"/>
      </p:transition>
    </mc:Choice>
    <mc:Fallback>
      <p:transition spd="slow">
        <p:fade/>
      </p:transition>
    </mc:Fallback>
  </mc:AlternateContent>
</p:sld>
</file>

<file path=ppt/theme/theme1.xml><?xml version="1.0" encoding="utf-8"?>
<a:theme xmlns:a="http://schemas.openxmlformats.org/drawingml/2006/main" name="Deadline">
  <a:themeElements>
    <a:clrScheme name="Deadline">
      <a:dk1>
        <a:srgbClr val="0E1736"/>
      </a:dk1>
      <a:lt1>
        <a:srgbClr val="FFFFFF"/>
      </a:lt1>
      <a:dk2>
        <a:srgbClr val="1B2A5C"/>
      </a:dk2>
      <a:lt2>
        <a:srgbClr val="F6F8FC"/>
      </a:lt2>
      <a:accent1>
        <a:srgbClr val="F28C28"/>
      </a:accent1>
      <a:accent2>
        <a:srgbClr val="FFD966"/>
      </a:accent2>
      <a:accent3>
        <a:srgbClr val="4A6FDC"/>
      </a:accent3>
      <a:accent4>
        <a:srgbClr val="2E9E6B"/>
      </a:accent4>
      <a:accent5>
        <a:srgbClr val="D64545"/>
      </a:accent5>
      <a:accent6>
        <a:srgbClr val="8A94B8"/>
      </a:accent6>
      <a:hlink>
        <a:srgbClr val="4A6FDC"/>
      </a:hlink>
      <a:folHlink>
        <a:srgbClr val="8A94B8"/>
      </a:folHlink>
    </a:clrScheme>
    <a:fontScheme name="Dead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Sequencing with Deadlines</dc:title>
  <dc:subject>PptxGenJS Presentation</dc:subject>
  <dc:creator>PptxGenJS</dc:creator>
  <cp:lastModifiedBy>PptxGenJS</cp:lastModifiedBy>
  <cp:revision>1</cp:revision>
  <dcterms:created xsi:type="dcterms:W3CDTF">2026-10-18T14:26:38Z</dcterms:created>
  <dcterms:modified xsi:type="dcterms:W3CDTF">2026-10-18T14:26:38Z</dcterms:modified>
</cp:coreProperties>
</file>